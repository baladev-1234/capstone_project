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sldIdLst>
    <p:sldId id="256" r:id="rId2"/>
    <p:sldId id="257" r:id="rId3"/>
    <p:sldId id="258" r:id="rId4"/>
    <p:sldId id="264" r:id="rId5"/>
    <p:sldId id="271" r:id="rId6"/>
    <p:sldId id="265" r:id="rId7"/>
    <p:sldId id="279" r:id="rId8"/>
    <p:sldId id="272" r:id="rId9"/>
    <p:sldId id="289" r:id="rId10"/>
    <p:sldId id="297" r:id="rId11"/>
    <p:sldId id="288" r:id="rId12"/>
    <p:sldId id="290" r:id="rId13"/>
    <p:sldId id="292" r:id="rId14"/>
    <p:sldId id="285" r:id="rId15"/>
    <p:sldId id="280" r:id="rId16"/>
    <p:sldId id="293" r:id="rId17"/>
    <p:sldId id="294" r:id="rId18"/>
    <p:sldId id="295" r:id="rId19"/>
    <p:sldId id="29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7BB652D8-A88A-4D05-A566-FB4F9DCDBC3A}">
          <p14:sldIdLst>
            <p14:sldId id="256"/>
            <p14:sldId id="257"/>
            <p14:sldId id="258"/>
            <p14:sldId id="264"/>
            <p14:sldId id="271"/>
            <p14:sldId id="265"/>
            <p14:sldId id="279"/>
            <p14:sldId id="272"/>
            <p14:sldId id="289"/>
            <p14:sldId id="297"/>
            <p14:sldId id="288"/>
            <p14:sldId id="290"/>
            <p14:sldId id="292"/>
            <p14:sldId id="285"/>
            <p14:sldId id="280"/>
            <p14:sldId id="293"/>
            <p14:sldId id="294"/>
            <p14:sldId id="295"/>
            <p14:sldId id="296"/>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8B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427" autoAdjust="0"/>
    <p:restoredTop sz="94660"/>
  </p:normalViewPr>
  <p:slideViewPr>
    <p:cSldViewPr snapToGrid="0">
      <p:cViewPr varScale="1">
        <p:scale>
          <a:sx n="67" d="100"/>
          <a:sy n="67" d="100"/>
        </p:scale>
        <p:origin x="704"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9184DA70-C731-4C70-880D-CCD4705E623C}" type="datetime1">
              <a:rPr lang="en-US" smtClean="0"/>
              <a:t>3/12/2021</a:t>
            </a:fld>
            <a:endParaRPr lang="en-US" dirty="0"/>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4169159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E1D723-8F53-4F53-90B0-1982A396982E}" type="datetime1">
              <a:rPr lang="en-US" smtClean="0"/>
              <a:t>3/12/2021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58940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669AF7-7BEB-44E4-9852-375E34362B5B}" type="datetime1">
              <a:rPr lang="en-US" smtClean="0"/>
              <a:t>3/12/2021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78675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AAC38D-0552-4C82-B593-E6124DFADBE2}" type="datetime1">
              <a:rPr lang="en-US" smtClean="0"/>
              <a:t>3/12/2021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89018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DF0F1C-5577-4ACB-BB62-DF8F3C494C7E}" type="datetime1">
              <a:rPr lang="en-US" smtClean="0"/>
              <a:t>3/12/2021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214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75B394-D9F9-4F0C-B15D-605F45CB9E9F}" type="datetime1">
              <a:rPr lang="en-US" smtClean="0"/>
              <a:t>3/12/2021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2445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667345-2558-425A-8533-9BFDBCE15005}" type="datetime1">
              <a:rPr lang="en-US" smtClean="0"/>
              <a:t>3/12/2021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77396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BEA474-078D-4E9B-9B14-09A87B19DC46}" type="datetime1">
              <a:rPr lang="en-US" smtClean="0"/>
              <a:t>3/12/2021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62949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07D986-8816-4272-A432-0437A28A9828}" type="datetime1">
              <a:rPr lang="en-US" smtClean="0"/>
              <a:t>3/12/2021</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35107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3/12/2021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8729646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3/12/2021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4584260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3/12/2021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8847981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3/12/2021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9834802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2D6E202-B606-4609-B914-27C9371A1F6D}" type="datetime1">
              <a:rPr lang="en-US" smtClean="0"/>
              <a:t>3/12/2021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831276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2D6E202-B606-4609-B914-27C9371A1F6D}" type="datetime1">
              <a:rPr lang="en-US" smtClean="0"/>
              <a:t>3/12/2021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7866568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2A279-0833-481D-8C56-F67FD0AC6C50}" type="datetime1">
              <a:rPr lang="en-US" smtClean="0"/>
              <a:t>3/12/2021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999616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87DA83-5663-4C9C-B9AA-0B40A3DAFF81}" type="datetime1">
              <a:rPr lang="en-US" smtClean="0"/>
              <a:t>3/12/2021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24848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62D6E202-B606-4609-B914-27C9371A1F6D}" type="datetime1">
              <a:rPr lang="en-US" smtClean="0"/>
              <a:t>3/12/2021</a:t>
            </a:fld>
            <a:endParaRPr lang="en-US" dirty="0"/>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endParaRPr lang="en-US" dirty="0"/>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2226695458"/>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 id="2147483823" r:id="rId13"/>
    <p:sldLayoutId id="2147483824" r:id="rId14"/>
    <p:sldLayoutId id="2147483825" r:id="rId15"/>
    <p:sldLayoutId id="2147483826" r:id="rId16"/>
    <p:sldLayoutId id="2147483827"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rgbClr val="92D050"/>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8187B-78DA-4783-A89F-C099FDC702A2}"/>
              </a:ext>
            </a:extLst>
          </p:cNvPr>
          <p:cNvSpPr>
            <a:spLocks noGrp="1"/>
          </p:cNvSpPr>
          <p:nvPr>
            <p:ph type="ctrTitle"/>
          </p:nvPr>
        </p:nvSpPr>
        <p:spPr>
          <a:xfrm>
            <a:off x="530942" y="329382"/>
            <a:ext cx="12152671" cy="3528244"/>
          </a:xfrm>
          <a:blipFill>
            <a:blip r:embed="rId2"/>
            <a:tile tx="0" ty="0" sx="100000" sy="100000" flip="none" algn="tl"/>
          </a:blipFill>
          <a:effectLst>
            <a:softEdge rad="0"/>
          </a:effectLst>
          <a:scene3d>
            <a:camera prst="orthographicFront"/>
            <a:lightRig rig="sunset" dir="t"/>
          </a:scene3d>
          <a:sp3d extrusionH="76200" contourW="12700" prstMaterial="dkEdge">
            <a:bevelT w="139700" h="139700" prst="divot"/>
            <a:bevelB prst="angle"/>
            <a:extrusionClr>
              <a:srgbClr val="00B050"/>
            </a:extrusionClr>
            <a:contourClr>
              <a:srgbClr val="C00000"/>
            </a:contourClr>
          </a:sp3d>
        </p:spPr>
        <p:txBody>
          <a:bodyPr>
            <a:normAutofit fontScale="90000"/>
          </a:bodyPr>
          <a:lstStyle/>
          <a:p>
            <a:br>
              <a:rPr lang="en-US" dirty="0">
                <a:solidFill>
                  <a:srgbClr val="FFFF00"/>
                </a:solidFill>
                <a:latin typeface="Curlz MT" panose="04040404050702020202" pitchFamily="82" charset="0"/>
              </a:rPr>
            </a:br>
            <a:br>
              <a:rPr lang="en-US" dirty="0">
                <a:solidFill>
                  <a:srgbClr val="FFFF00"/>
                </a:solidFill>
                <a:latin typeface="Curlz MT" panose="04040404050702020202" pitchFamily="82" charset="0"/>
              </a:rPr>
            </a:br>
            <a:br>
              <a:rPr lang="en-US" dirty="0">
                <a:solidFill>
                  <a:srgbClr val="FFFF00"/>
                </a:solidFill>
                <a:latin typeface="Curlz MT" panose="04040404050702020202" pitchFamily="82" charset="0"/>
              </a:rPr>
            </a:br>
            <a:br>
              <a:rPr lang="en-US" dirty="0">
                <a:solidFill>
                  <a:srgbClr val="FFFF00"/>
                </a:solidFill>
                <a:latin typeface="Curlz MT" panose="04040404050702020202" pitchFamily="82" charset="0"/>
              </a:rPr>
            </a:br>
            <a:br>
              <a:rPr lang="en-US" dirty="0">
                <a:solidFill>
                  <a:srgbClr val="FFFF00"/>
                </a:solidFill>
                <a:latin typeface="Curlz MT" panose="04040404050702020202" pitchFamily="82" charset="0"/>
              </a:rPr>
            </a:br>
            <a:br>
              <a:rPr lang="en-US" dirty="0">
                <a:solidFill>
                  <a:srgbClr val="FFFF00"/>
                </a:solidFill>
                <a:latin typeface="Curlz MT" panose="04040404050702020202" pitchFamily="82" charset="0"/>
              </a:rPr>
            </a:br>
            <a:br>
              <a:rPr lang="en-US" dirty="0">
                <a:solidFill>
                  <a:srgbClr val="FFFF00"/>
                </a:solidFill>
                <a:latin typeface="Curlz MT" panose="04040404050702020202" pitchFamily="82" charset="0"/>
              </a:rPr>
            </a:br>
            <a:br>
              <a:rPr lang="en-US" dirty="0">
                <a:solidFill>
                  <a:srgbClr val="FFFF00"/>
                </a:solidFill>
                <a:latin typeface="Curlz MT" panose="04040404050702020202" pitchFamily="82" charset="0"/>
              </a:rPr>
            </a:br>
            <a:br>
              <a:rPr lang="en-US" dirty="0">
                <a:solidFill>
                  <a:srgbClr val="FFFF00"/>
                </a:solidFill>
                <a:latin typeface="Curlz MT" panose="04040404050702020202" pitchFamily="82" charset="0"/>
              </a:rPr>
            </a:br>
            <a:br>
              <a:rPr lang="en-US" dirty="0">
                <a:solidFill>
                  <a:srgbClr val="FFFF00"/>
                </a:solidFill>
                <a:latin typeface="Curlz MT" panose="04040404050702020202" pitchFamily="82" charset="0"/>
              </a:rPr>
            </a:br>
            <a:br>
              <a:rPr lang="en-US" dirty="0">
                <a:solidFill>
                  <a:srgbClr val="FFFF00"/>
                </a:solidFill>
                <a:latin typeface="Curlz MT" panose="04040404050702020202" pitchFamily="82" charset="0"/>
              </a:rPr>
            </a:br>
            <a:br>
              <a:rPr lang="en-US" dirty="0">
                <a:solidFill>
                  <a:srgbClr val="FFFF00"/>
                </a:solidFill>
                <a:latin typeface="Curlz MT" panose="04040404050702020202" pitchFamily="82" charset="0"/>
              </a:rPr>
            </a:br>
            <a:br>
              <a:rPr lang="en-US" dirty="0">
                <a:solidFill>
                  <a:srgbClr val="FFFF00"/>
                </a:solidFill>
                <a:latin typeface="Curlz MT" panose="04040404050702020202" pitchFamily="82" charset="0"/>
              </a:rPr>
            </a:br>
            <a:br>
              <a:rPr lang="en-US" dirty="0">
                <a:solidFill>
                  <a:srgbClr val="FFFF00"/>
                </a:solidFill>
                <a:latin typeface="Curlz MT" panose="04040404050702020202" pitchFamily="82" charset="0"/>
              </a:rPr>
            </a:br>
            <a:br>
              <a:rPr lang="en-US" dirty="0">
                <a:solidFill>
                  <a:srgbClr val="FFFF00"/>
                </a:solidFill>
                <a:latin typeface="Curlz MT" panose="04040404050702020202" pitchFamily="82" charset="0"/>
              </a:rPr>
            </a:br>
            <a:br>
              <a:rPr lang="en-US" dirty="0">
                <a:solidFill>
                  <a:srgbClr val="FFFF00"/>
                </a:solidFill>
                <a:latin typeface="Curlz MT" panose="04040404050702020202" pitchFamily="82" charset="0"/>
              </a:rPr>
            </a:br>
            <a:br>
              <a:rPr lang="en-US" dirty="0">
                <a:solidFill>
                  <a:srgbClr val="FFFF00"/>
                </a:solidFill>
                <a:latin typeface="Curlz MT" panose="04040404050702020202" pitchFamily="82" charset="0"/>
              </a:rPr>
            </a:br>
            <a:br>
              <a:rPr lang="en-US" dirty="0">
                <a:solidFill>
                  <a:srgbClr val="FFFF00"/>
                </a:solidFill>
                <a:latin typeface="Curlz MT" panose="04040404050702020202" pitchFamily="82" charset="0"/>
              </a:rPr>
            </a:br>
            <a:br>
              <a:rPr lang="en-US" dirty="0">
                <a:solidFill>
                  <a:srgbClr val="FFFF00"/>
                </a:solidFill>
                <a:latin typeface="Curlz MT" panose="04040404050702020202" pitchFamily="82" charset="0"/>
              </a:rPr>
            </a:br>
            <a:br>
              <a:rPr lang="en-US" dirty="0">
                <a:solidFill>
                  <a:srgbClr val="FFFF00"/>
                </a:solidFill>
                <a:latin typeface="Curlz MT" panose="04040404050702020202" pitchFamily="82" charset="0"/>
              </a:rPr>
            </a:br>
            <a:br>
              <a:rPr lang="en-US" dirty="0">
                <a:solidFill>
                  <a:srgbClr val="FFFF00"/>
                </a:solidFill>
                <a:latin typeface="Curlz MT" panose="04040404050702020202" pitchFamily="82" charset="0"/>
              </a:rPr>
            </a:br>
            <a:br>
              <a:rPr lang="en-US" dirty="0">
                <a:solidFill>
                  <a:srgbClr val="FFFF00"/>
                </a:solidFill>
                <a:latin typeface="Curlz MT" panose="04040404050702020202" pitchFamily="82" charset="0"/>
              </a:rPr>
            </a:br>
            <a:r>
              <a:rPr lang="en-US" dirty="0">
                <a:solidFill>
                  <a:srgbClr val="FFFF00"/>
                </a:solidFill>
                <a:latin typeface="Curlz MT" panose="04040404050702020202" pitchFamily="82" charset="0"/>
              </a:rPr>
              <a:t>							</a:t>
            </a:r>
            <a:r>
              <a:rPr lang="en-US" sz="4900" dirty="0">
                <a:solidFill>
                  <a:srgbClr val="FFFF00"/>
                </a:solidFill>
                <a:latin typeface="Curlz MT" panose="04040404050702020202" pitchFamily="82" charset="0"/>
              </a:rPr>
              <a:t>CLIMATE CHANGE</a:t>
            </a:r>
            <a:br>
              <a:rPr lang="en-US" sz="4900" dirty="0">
                <a:solidFill>
                  <a:srgbClr val="FF0000"/>
                </a:solidFill>
                <a:latin typeface="Curlz MT" panose="04040404050702020202" pitchFamily="82" charset="0"/>
              </a:rPr>
            </a:br>
            <a:r>
              <a:rPr lang="en-US" sz="4900" dirty="0">
                <a:solidFill>
                  <a:srgbClr val="FF0000"/>
                </a:solidFill>
                <a:latin typeface="Curlz MT" panose="04040404050702020202" pitchFamily="82" charset="0"/>
              </a:rPr>
              <a:t>          								</a:t>
            </a:r>
            <a:r>
              <a:rPr lang="en-US" sz="4900" dirty="0">
                <a:solidFill>
                  <a:srgbClr val="FFFF00"/>
                </a:solidFill>
                <a:latin typeface="Curlz MT" panose="04040404050702020202" pitchFamily="82" charset="0"/>
              </a:rPr>
              <a:t>IN</a:t>
            </a:r>
            <a:br>
              <a:rPr lang="en-US" sz="4900" dirty="0"/>
            </a:br>
            <a:r>
              <a:rPr lang="en-US" sz="4900" dirty="0"/>
              <a:t>							</a:t>
            </a:r>
            <a:r>
              <a:rPr lang="en-US" sz="4900" spc="-300" dirty="0">
                <a:solidFill>
                  <a:srgbClr val="FFFF00"/>
                </a:solidFill>
                <a:latin typeface="Colonna MT" panose="04020805060202030203" pitchFamily="82" charset="0"/>
              </a:rPr>
              <a:t>ASIAN COUNTRIES				</a:t>
            </a:r>
            <a:br>
              <a:rPr lang="en-US" sz="4900" spc="-300" dirty="0">
                <a:solidFill>
                  <a:srgbClr val="FFFF00"/>
                </a:solidFill>
                <a:latin typeface="Colonna MT" panose="04020805060202030203" pitchFamily="82" charset="0"/>
              </a:rPr>
            </a:br>
            <a:r>
              <a:rPr lang="en-US" sz="4900" spc="-300" dirty="0">
                <a:solidFill>
                  <a:srgbClr val="FFFF00"/>
                </a:solidFill>
                <a:latin typeface="Colonna MT" panose="04020805060202030203" pitchFamily="82" charset="0"/>
              </a:rPr>
              <a:t>	</a:t>
            </a:r>
            <a:r>
              <a:rPr lang="en-US" sz="4900" spc="-300" dirty="0">
                <a:latin typeface="Colonna MT" panose="04020805060202030203" pitchFamily="82" charset="0"/>
              </a:rPr>
              <a:t>                 							</a:t>
            </a:r>
            <a:r>
              <a:rPr lang="en-US" sz="4900" spc="-300" dirty="0">
                <a:solidFill>
                  <a:srgbClr val="FFFF00"/>
                </a:solidFill>
                <a:latin typeface="Colonna MT" panose="04020805060202030203" pitchFamily="82" charset="0"/>
              </a:rPr>
              <a:t>&amp;									</a:t>
            </a:r>
            <a:br>
              <a:rPr lang="en-US" sz="4900" spc="-300" dirty="0">
                <a:solidFill>
                  <a:srgbClr val="FFFF00"/>
                </a:solidFill>
                <a:latin typeface="Colonna MT" panose="04020805060202030203" pitchFamily="82" charset="0"/>
              </a:rPr>
            </a:br>
            <a:r>
              <a:rPr lang="en-US" sz="4900" spc="-300" dirty="0">
                <a:solidFill>
                  <a:srgbClr val="FFFF00"/>
                </a:solidFill>
                <a:latin typeface="Colonna MT" panose="04020805060202030203" pitchFamily="82" charset="0"/>
              </a:rPr>
              <a:t>						    GLOBAL WARMING</a:t>
            </a:r>
            <a:r>
              <a:rPr lang="en-US" sz="4900" spc="-300" dirty="0">
                <a:solidFill>
                  <a:srgbClr val="FFFF00"/>
                </a:solidFill>
              </a:rPr>
              <a:t> </a:t>
            </a:r>
          </a:p>
        </p:txBody>
      </p:sp>
      <p:sp>
        <p:nvSpPr>
          <p:cNvPr id="3" name="Subtitle 2">
            <a:extLst>
              <a:ext uri="{FF2B5EF4-FFF2-40B4-BE49-F238E27FC236}">
                <a16:creationId xmlns:a16="http://schemas.microsoft.com/office/drawing/2014/main" id="{6ACAE953-73BC-481B-AE0D-C0F67BE044F5}"/>
              </a:ext>
            </a:extLst>
          </p:cNvPr>
          <p:cNvSpPr>
            <a:spLocks noGrp="1"/>
          </p:cNvSpPr>
          <p:nvPr>
            <p:ph type="subTitle" idx="1"/>
          </p:nvPr>
        </p:nvSpPr>
        <p:spPr>
          <a:xfrm>
            <a:off x="759419" y="3857626"/>
            <a:ext cx="11924194" cy="3914775"/>
          </a:xfrm>
          <a:blipFill>
            <a:blip r:embed="rId3"/>
            <a:tile tx="0" ty="0" sx="100000" sy="100000" flip="none" algn="tl"/>
          </a:blipFill>
          <a:scene3d>
            <a:camera prst="orthographicFront">
              <a:rot lat="0" lon="21299984" rev="0"/>
            </a:camera>
            <a:lightRig rig="threePt" dir="t"/>
          </a:scene3d>
          <a:sp3d extrusionH="76200">
            <a:extrusionClr>
              <a:srgbClr val="FFFF00"/>
            </a:extrusionClr>
          </a:sp3d>
        </p:spPr>
        <p:txBody>
          <a:bodyPr>
            <a:normAutofit/>
          </a:bodyPr>
          <a:lstStyle/>
          <a:p>
            <a:r>
              <a:rPr lang="en-US" sz="1600" dirty="0">
                <a:solidFill>
                  <a:srgbClr val="00B050"/>
                </a:solidFill>
                <a:latin typeface="+mj-lt"/>
              </a:rPr>
              <a:t>MENTOR: DR DIPANJAN GOSWAMI							      	         GROUP-1          team members:-</a:t>
            </a:r>
          </a:p>
          <a:p>
            <a:pPr>
              <a:lnSpc>
                <a:spcPct val="100000"/>
              </a:lnSpc>
            </a:pPr>
            <a:r>
              <a:rPr lang="en-US" sz="1600" dirty="0">
                <a:solidFill>
                  <a:srgbClr val="00B050"/>
                </a:solidFill>
                <a:latin typeface="+mj-lt"/>
              </a:rPr>
              <a:t>PROF BI IIT DELHI       							                        			 Sai prasad  Mohapatra (team lead)              </a:t>
            </a:r>
          </a:p>
          <a:p>
            <a:pPr>
              <a:lnSpc>
                <a:spcPct val="100000"/>
              </a:lnSpc>
            </a:pPr>
            <a:r>
              <a:rPr lang="en-US" sz="1600" dirty="0">
                <a:solidFill>
                  <a:srgbClr val="00B050"/>
                </a:solidFill>
                <a:latin typeface="+mj-lt"/>
              </a:rPr>
              <a:t>DIRECTOR AI ICTS PVT LTD								       			 </a:t>
            </a:r>
            <a:r>
              <a:rPr lang="en-IN" sz="1600" dirty="0">
                <a:solidFill>
                  <a:srgbClr val="00B050"/>
                </a:solidFill>
                <a:latin typeface="+mj-lt"/>
              </a:rPr>
              <a:t>Kunchalapalli Margaret Clater</a:t>
            </a:r>
            <a:endParaRPr lang="en-US" sz="1600" dirty="0">
              <a:solidFill>
                <a:srgbClr val="00B050"/>
              </a:solidFill>
              <a:latin typeface="+mj-lt"/>
            </a:endParaRPr>
          </a:p>
          <a:p>
            <a:pPr>
              <a:lnSpc>
                <a:spcPct val="100000"/>
              </a:lnSpc>
            </a:pPr>
            <a:r>
              <a:rPr lang="en-US" sz="1600" dirty="0">
                <a:solidFill>
                  <a:srgbClr val="00B050"/>
                </a:solidFill>
                <a:latin typeface="+mj-lt"/>
              </a:rPr>
              <a:t>								      </a:t>
            </a:r>
            <a:r>
              <a:rPr lang="en-IN" sz="1600" dirty="0">
                <a:solidFill>
                  <a:srgbClr val="00B050"/>
                </a:solidFill>
                <a:latin typeface="+mj-lt"/>
              </a:rPr>
              <a:t> 			 					Baladev Debasis Jena</a:t>
            </a:r>
            <a:r>
              <a:rPr lang="en-US" sz="1600" dirty="0">
                <a:solidFill>
                  <a:srgbClr val="00B050"/>
                </a:solidFill>
                <a:latin typeface="+mj-lt"/>
              </a:rPr>
              <a:t>										</a:t>
            </a:r>
            <a:r>
              <a:rPr lang="en-IN" sz="1600" dirty="0">
                <a:solidFill>
                  <a:srgbClr val="00B050"/>
                </a:solidFill>
                <a:latin typeface="+mj-lt"/>
              </a:rPr>
              <a:t>       			 							Siddant Satyanarayana </a:t>
            </a:r>
          </a:p>
          <a:p>
            <a:pPr>
              <a:lnSpc>
                <a:spcPct val="100000"/>
              </a:lnSpc>
            </a:pPr>
            <a:r>
              <a:rPr lang="en-US" sz="1600" dirty="0">
                <a:solidFill>
                  <a:srgbClr val="00B050"/>
                </a:solidFill>
                <a:latin typeface="+mj-lt"/>
              </a:rPr>
              <a:t>													      			 </a:t>
            </a:r>
            <a:r>
              <a:rPr lang="en-IN" sz="1600" dirty="0">
                <a:solidFill>
                  <a:srgbClr val="00B050"/>
                </a:solidFill>
                <a:latin typeface="+mj-lt"/>
              </a:rPr>
              <a:t>Bashwant Vegunta Chowdary</a:t>
            </a:r>
          </a:p>
          <a:p>
            <a:pPr>
              <a:lnSpc>
                <a:spcPct val="100000"/>
              </a:lnSpc>
            </a:pPr>
            <a:r>
              <a:rPr lang="en-IN" sz="1600" dirty="0">
                <a:solidFill>
                  <a:srgbClr val="00B050"/>
                </a:solidFill>
                <a:latin typeface="+mj-lt"/>
              </a:rPr>
              <a:t>													       			 Harshavardhana Sadhu</a:t>
            </a:r>
          </a:p>
          <a:p>
            <a:pPr>
              <a:lnSpc>
                <a:spcPct val="100000"/>
              </a:lnSpc>
            </a:pPr>
            <a:r>
              <a:rPr lang="en-IN" sz="1600" dirty="0">
                <a:solidFill>
                  <a:srgbClr val="00B050"/>
                </a:solidFill>
                <a:latin typeface="+mj-lt"/>
              </a:rPr>
              <a:t>													       			 KARTICK CHANDRA JENA</a:t>
            </a:r>
            <a:endParaRPr lang="en-US" sz="1600" dirty="0">
              <a:solidFill>
                <a:srgbClr val="00B050"/>
              </a:solidFill>
              <a:latin typeface="+mj-lt"/>
            </a:endParaRPr>
          </a:p>
        </p:txBody>
      </p:sp>
      <p:pic>
        <p:nvPicPr>
          <p:cNvPr id="4" name="image3.png">
            <a:extLst>
              <a:ext uri="{FF2B5EF4-FFF2-40B4-BE49-F238E27FC236}">
                <a16:creationId xmlns:a16="http://schemas.microsoft.com/office/drawing/2014/main" id="{181E451C-44DE-4309-8C68-6F669023D3CF}"/>
              </a:ext>
            </a:extLst>
          </p:cNvPr>
          <p:cNvPicPr/>
          <p:nvPr/>
        </p:nvPicPr>
        <p:blipFill>
          <a:blip r:embed="rId4"/>
          <a:srcRect/>
          <a:stretch>
            <a:fillRect/>
          </a:stretch>
        </p:blipFill>
        <p:spPr>
          <a:xfrm>
            <a:off x="9801225" y="602193"/>
            <a:ext cx="2295525" cy="836082"/>
          </a:xfrm>
          <a:prstGeom prst="rect">
            <a:avLst/>
          </a:prstGeom>
          <a:ln>
            <a:solidFill>
              <a:schemeClr val="accent3"/>
            </a:solidFill>
          </a:ln>
        </p:spPr>
      </p:pic>
    </p:spTree>
    <p:extLst>
      <p:ext uri="{BB962C8B-B14F-4D97-AF65-F5344CB8AC3E}">
        <p14:creationId xmlns:p14="http://schemas.microsoft.com/office/powerpoint/2010/main" val="1628425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bg/>
                                          </p:spTgt>
                                        </p:tgtEl>
                                        <p:attrNameLst>
                                          <p:attrName>style.visibility</p:attrName>
                                        </p:attrNameLst>
                                      </p:cBhvr>
                                      <p:to>
                                        <p:strVal val="visible"/>
                                      </p:to>
                                    </p:set>
                                    <p:animEffect transition="in" filter="fade">
                                      <p:cBhvr>
                                        <p:cTn id="14" dur="1000"/>
                                        <p:tgtEl>
                                          <p:spTgt spid="3">
                                            <p:bg/>
                                          </p:spTgt>
                                        </p:tgtEl>
                                      </p:cBhvr>
                                    </p:animEffect>
                                    <p:anim calcmode="lin" valueType="num">
                                      <p:cBhvr>
                                        <p:cTn id="15" dur="1000" fill="hold"/>
                                        <p:tgtEl>
                                          <p:spTgt spid="3">
                                            <p:bg/>
                                          </p:spTgt>
                                        </p:tgtEl>
                                        <p:attrNameLst>
                                          <p:attrName>ppt_x</p:attrName>
                                        </p:attrNameLst>
                                      </p:cBhvr>
                                      <p:tavLst>
                                        <p:tav tm="0">
                                          <p:val>
                                            <p:strVal val="#ppt_x"/>
                                          </p:val>
                                        </p:tav>
                                        <p:tav tm="100000">
                                          <p:val>
                                            <p:strVal val="#ppt_x"/>
                                          </p:val>
                                        </p:tav>
                                      </p:tavLst>
                                    </p:anim>
                                    <p:anim calcmode="lin" valueType="num">
                                      <p:cBhvr>
                                        <p:cTn id="16"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fade">
                                      <p:cBhvr>
                                        <p:cTn id="21" dur="1000"/>
                                        <p:tgtEl>
                                          <p:spTgt spid="3">
                                            <p:txEl>
                                              <p:pRg st="0" end="0"/>
                                            </p:txEl>
                                          </p:spTgt>
                                        </p:tgtEl>
                                      </p:cBhvr>
                                    </p:animEffect>
                                    <p:anim calcmode="lin" valueType="num">
                                      <p:cBhvr>
                                        <p:cTn id="22"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fade">
                                      <p:cBhvr>
                                        <p:cTn id="28" dur="1000"/>
                                        <p:tgtEl>
                                          <p:spTgt spid="3">
                                            <p:txEl>
                                              <p:pRg st="1" end="1"/>
                                            </p:txEl>
                                          </p:spTgt>
                                        </p:tgtEl>
                                      </p:cBhvr>
                                    </p:animEffect>
                                    <p:anim calcmode="lin" valueType="num">
                                      <p:cBhvr>
                                        <p:cTn id="29"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Effect transition="in" filter="fade">
                                      <p:cBhvr>
                                        <p:cTn id="35" dur="1000"/>
                                        <p:tgtEl>
                                          <p:spTgt spid="3">
                                            <p:txEl>
                                              <p:pRg st="2" end="2"/>
                                            </p:txEl>
                                          </p:spTgt>
                                        </p:tgtEl>
                                      </p:cBhvr>
                                    </p:animEffect>
                                    <p:anim calcmode="lin" valueType="num">
                                      <p:cBhvr>
                                        <p:cTn id="36"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3" end="3"/>
                                            </p:txEl>
                                          </p:spTgt>
                                        </p:tgtEl>
                                        <p:attrNameLst>
                                          <p:attrName>style.visibility</p:attrName>
                                        </p:attrNameLst>
                                      </p:cBhvr>
                                      <p:to>
                                        <p:strVal val="visible"/>
                                      </p:to>
                                    </p:set>
                                    <p:animEffect transition="in" filter="fade">
                                      <p:cBhvr>
                                        <p:cTn id="42" dur="1000"/>
                                        <p:tgtEl>
                                          <p:spTgt spid="3">
                                            <p:txEl>
                                              <p:pRg st="3" end="3"/>
                                            </p:txEl>
                                          </p:spTgt>
                                        </p:tgtEl>
                                      </p:cBhvr>
                                    </p:animEffect>
                                    <p:anim calcmode="lin" valueType="num">
                                      <p:cBhvr>
                                        <p:cTn id="4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4" end="4"/>
                                            </p:txEl>
                                          </p:spTgt>
                                        </p:tgtEl>
                                        <p:attrNameLst>
                                          <p:attrName>style.visibility</p:attrName>
                                        </p:attrNameLst>
                                      </p:cBhvr>
                                      <p:to>
                                        <p:strVal val="visible"/>
                                      </p:to>
                                    </p:set>
                                    <p:animEffect transition="in" filter="fade">
                                      <p:cBhvr>
                                        <p:cTn id="49" dur="1000"/>
                                        <p:tgtEl>
                                          <p:spTgt spid="3">
                                            <p:txEl>
                                              <p:pRg st="4" end="4"/>
                                            </p:txEl>
                                          </p:spTgt>
                                        </p:tgtEl>
                                      </p:cBhvr>
                                    </p:animEffect>
                                    <p:anim calcmode="lin" valueType="num">
                                      <p:cBhvr>
                                        <p:cTn id="5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5" end="5"/>
                                            </p:txEl>
                                          </p:spTgt>
                                        </p:tgtEl>
                                        <p:attrNameLst>
                                          <p:attrName>style.visibility</p:attrName>
                                        </p:attrNameLst>
                                      </p:cBhvr>
                                      <p:to>
                                        <p:strVal val="visible"/>
                                      </p:to>
                                    </p:set>
                                    <p:animEffect transition="in" filter="fade">
                                      <p:cBhvr>
                                        <p:cTn id="56" dur="1000"/>
                                        <p:tgtEl>
                                          <p:spTgt spid="3">
                                            <p:txEl>
                                              <p:pRg st="5" end="5"/>
                                            </p:txEl>
                                          </p:spTgt>
                                        </p:tgtEl>
                                      </p:cBhvr>
                                    </p:animEffect>
                                    <p:anim calcmode="lin" valueType="num">
                                      <p:cBhvr>
                                        <p:cTn id="5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6" end="6"/>
                                            </p:txEl>
                                          </p:spTgt>
                                        </p:tgtEl>
                                        <p:attrNameLst>
                                          <p:attrName>style.visibility</p:attrName>
                                        </p:attrNameLst>
                                      </p:cBhvr>
                                      <p:to>
                                        <p:strVal val="visible"/>
                                      </p:to>
                                    </p:set>
                                    <p:animEffect transition="in" filter="fade">
                                      <p:cBhvr>
                                        <p:cTn id="63" dur="1000"/>
                                        <p:tgtEl>
                                          <p:spTgt spid="3">
                                            <p:txEl>
                                              <p:pRg st="6" end="6"/>
                                            </p:txEl>
                                          </p:spTgt>
                                        </p:tgtEl>
                                      </p:cBhvr>
                                    </p:animEffect>
                                    <p:anim calcmode="lin" valueType="num">
                                      <p:cBhvr>
                                        <p:cTn id="6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uiExpand="1" build="p"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2C681-FEA7-43FA-99C3-5F8C18F8B4E5}"/>
              </a:ext>
            </a:extLst>
          </p:cNvPr>
          <p:cNvSpPr>
            <a:spLocks noGrp="1"/>
          </p:cNvSpPr>
          <p:nvPr>
            <p:ph type="title"/>
          </p:nvPr>
        </p:nvSpPr>
        <p:spPr>
          <a:xfrm>
            <a:off x="704850" y="365126"/>
            <a:ext cx="9725025" cy="1073150"/>
          </a:xfrm>
          <a:solidFill>
            <a:schemeClr val="accent3"/>
          </a:solidFill>
        </p:spPr>
        <p:txBody>
          <a:bodyPr>
            <a:normAutofit fontScale="90000"/>
          </a:bodyPr>
          <a:lstStyle/>
          <a:p>
            <a:r>
              <a:rPr lang="en-US" sz="3600" b="1" dirty="0">
                <a:solidFill>
                  <a:schemeClr val="bg2">
                    <a:lumMod val="10000"/>
                  </a:schemeClr>
                </a:solidFill>
              </a:rPr>
              <a:t>CONTENT</a:t>
            </a:r>
            <a:r>
              <a:rPr lang="en-US" sz="3600" dirty="0"/>
              <a:t>:</a:t>
            </a:r>
            <a:br>
              <a:rPr lang="en-US" sz="3600" dirty="0"/>
            </a:br>
            <a:endParaRPr lang="en-US" sz="3600" dirty="0"/>
          </a:p>
        </p:txBody>
      </p:sp>
      <p:sp>
        <p:nvSpPr>
          <p:cNvPr id="3" name="Content Placeholder 2">
            <a:extLst>
              <a:ext uri="{FF2B5EF4-FFF2-40B4-BE49-F238E27FC236}">
                <a16:creationId xmlns:a16="http://schemas.microsoft.com/office/drawing/2014/main" id="{5E331D49-10CD-4B6B-84A8-C5DECBBF6152}"/>
              </a:ext>
            </a:extLst>
          </p:cNvPr>
          <p:cNvSpPr>
            <a:spLocks noGrp="1"/>
          </p:cNvSpPr>
          <p:nvPr>
            <p:ph idx="1"/>
          </p:nvPr>
        </p:nvSpPr>
        <p:spPr>
          <a:xfrm>
            <a:off x="704850" y="1438274"/>
            <a:ext cx="10648950" cy="5024437"/>
          </a:xfrm>
          <a:solidFill>
            <a:schemeClr val="accent6">
              <a:lumMod val="40000"/>
              <a:lumOff val="60000"/>
            </a:schemeClr>
          </a:solidFill>
        </p:spPr>
        <p:txBody>
          <a:bodyPr>
            <a:normAutofit fontScale="92500" lnSpcReduction="10000"/>
          </a:bodyPr>
          <a:lstStyle/>
          <a:p>
            <a:pPr>
              <a:buFont typeface="Wingdings" panose="05000000000000000000" pitchFamily="2" charset="2"/>
              <a:buChar char="v"/>
            </a:pPr>
            <a:r>
              <a:rPr lang="en-US" sz="2000" dirty="0">
                <a:solidFill>
                  <a:srgbClr val="FF0000"/>
                </a:solidFill>
                <a:latin typeface="Berlin Sans FB Demi" panose="020E0802020502020306" pitchFamily="34" charset="0"/>
              </a:rPr>
              <a:t>INTRODUCTION</a:t>
            </a:r>
          </a:p>
          <a:p>
            <a:pPr>
              <a:buFont typeface="Wingdings" panose="05000000000000000000" pitchFamily="2" charset="2"/>
              <a:buChar char="v"/>
            </a:pPr>
            <a:r>
              <a:rPr lang="en-US" sz="2000" dirty="0">
                <a:solidFill>
                  <a:srgbClr val="FF0000"/>
                </a:solidFill>
                <a:latin typeface="Berlin Sans FB Demi" panose="020E0802020502020306" pitchFamily="34" charset="0"/>
              </a:rPr>
              <a:t>OBJECTIVE OF STUDY</a:t>
            </a:r>
          </a:p>
          <a:p>
            <a:pPr>
              <a:buFont typeface="Wingdings" panose="05000000000000000000" pitchFamily="2" charset="2"/>
              <a:buChar char="v"/>
            </a:pPr>
            <a:r>
              <a:rPr lang="en-US" sz="2000" dirty="0">
                <a:solidFill>
                  <a:srgbClr val="FF0000"/>
                </a:solidFill>
                <a:latin typeface="Berlin Sans FB Demi" panose="020E0802020502020306" pitchFamily="34" charset="0"/>
              </a:rPr>
              <a:t>LITERATURE SURVEY</a:t>
            </a:r>
          </a:p>
          <a:p>
            <a:pPr>
              <a:buFont typeface="Wingdings" panose="05000000000000000000" pitchFamily="2" charset="2"/>
              <a:buChar char="v"/>
            </a:pPr>
            <a:r>
              <a:rPr lang="en-US" sz="2000" dirty="0">
                <a:solidFill>
                  <a:srgbClr val="FF0000"/>
                </a:solidFill>
                <a:latin typeface="Berlin Sans FB Demi" panose="020E0802020502020306" pitchFamily="34" charset="0"/>
              </a:rPr>
              <a:t>MODELLING APPROACH</a:t>
            </a:r>
          </a:p>
          <a:p>
            <a:pPr>
              <a:buFont typeface="Wingdings" panose="05000000000000000000" pitchFamily="2" charset="2"/>
              <a:buChar char="v"/>
            </a:pPr>
            <a:r>
              <a:rPr lang="en-US" sz="2000" dirty="0">
                <a:solidFill>
                  <a:srgbClr val="FF0000"/>
                </a:solidFill>
                <a:latin typeface="Berlin Sans FB Demi" panose="020E0802020502020306" pitchFamily="34" charset="0"/>
              </a:rPr>
              <a:t> DATA INSIGHTS</a:t>
            </a:r>
          </a:p>
          <a:p>
            <a:pPr>
              <a:buFont typeface="Wingdings" panose="05000000000000000000" pitchFamily="2" charset="2"/>
              <a:buChar char="v"/>
            </a:pPr>
            <a:r>
              <a:rPr lang="en-US" sz="2000" dirty="0">
                <a:solidFill>
                  <a:srgbClr val="FF0000"/>
                </a:solidFill>
                <a:latin typeface="Berlin Sans FB Demi" panose="020E0802020502020306" pitchFamily="34" charset="0"/>
              </a:rPr>
              <a:t>PRINCIPAL COMPONENT ANALYSIS</a:t>
            </a:r>
          </a:p>
          <a:p>
            <a:pPr>
              <a:buFont typeface="Wingdings" panose="05000000000000000000" pitchFamily="2" charset="2"/>
              <a:buChar char="v"/>
            </a:pPr>
            <a:r>
              <a:rPr lang="en-US" sz="2100" dirty="0">
                <a:solidFill>
                  <a:srgbClr val="FF0000"/>
                </a:solidFill>
                <a:latin typeface="Berlin Sans FB Demi" panose="020E0802020502020306" pitchFamily="34" charset="0"/>
              </a:rPr>
              <a:t>CLUSTERING (K-MEANS)</a:t>
            </a:r>
          </a:p>
          <a:p>
            <a:pPr>
              <a:buFont typeface="Wingdings" panose="05000000000000000000" pitchFamily="2" charset="2"/>
              <a:buChar char="v"/>
            </a:pPr>
            <a:r>
              <a:rPr lang="en-US" sz="2100" dirty="0">
                <a:solidFill>
                  <a:srgbClr val="FF0000"/>
                </a:solidFill>
                <a:latin typeface="Berlin Sans FB Demi" panose="020E0802020502020306" pitchFamily="34" charset="0"/>
              </a:rPr>
              <a:t>CLUSTER </a:t>
            </a:r>
            <a:r>
              <a:rPr lang="en-US" sz="2000" dirty="0">
                <a:solidFill>
                  <a:srgbClr val="FF0000"/>
                </a:solidFill>
                <a:latin typeface="Berlin Sans FB Demi" panose="020E0802020502020306" pitchFamily="34" charset="0"/>
              </a:rPr>
              <a:t>VALIDATION</a:t>
            </a:r>
          </a:p>
          <a:p>
            <a:pPr>
              <a:buFont typeface="Wingdings" panose="05000000000000000000" pitchFamily="2" charset="2"/>
              <a:buChar char="v"/>
            </a:pPr>
            <a:r>
              <a:rPr lang="en-US" sz="2000" dirty="0">
                <a:solidFill>
                  <a:srgbClr val="FF0000"/>
                </a:solidFill>
                <a:latin typeface="Berlin Sans FB Demi" panose="020E0802020502020306" pitchFamily="34" charset="0"/>
              </a:rPr>
              <a:t>STATISTICAL ANALYSIS</a:t>
            </a:r>
          </a:p>
          <a:p>
            <a:pPr>
              <a:buFont typeface="Wingdings" panose="05000000000000000000" pitchFamily="2" charset="2"/>
              <a:buChar char="v"/>
            </a:pPr>
            <a:r>
              <a:rPr lang="en-US" sz="2000" dirty="0">
                <a:solidFill>
                  <a:srgbClr val="FF0000"/>
                </a:solidFill>
                <a:latin typeface="Berlin Sans FB Demi" panose="020E0802020502020306" pitchFamily="34" charset="0"/>
              </a:rPr>
              <a:t>MODEL VALIDATION</a:t>
            </a:r>
          </a:p>
          <a:p>
            <a:pPr>
              <a:buFont typeface="Wingdings" panose="05000000000000000000" pitchFamily="2" charset="2"/>
              <a:buChar char="v"/>
            </a:pPr>
            <a:r>
              <a:rPr lang="en-IN" sz="2100" dirty="0">
                <a:solidFill>
                  <a:srgbClr val="FF0000"/>
                </a:solidFill>
                <a:latin typeface="Berlin Sans FB Demi" panose="020E0802020502020306" pitchFamily="34" charset="0"/>
              </a:rPr>
              <a:t>SAMPLING EFFECTS ON BASE MODEL</a:t>
            </a:r>
            <a:endParaRPr lang="en-US" sz="2100" dirty="0">
              <a:solidFill>
                <a:srgbClr val="FF0000"/>
              </a:solidFill>
              <a:latin typeface="Berlin Sans FB Demi" panose="020E0802020502020306" pitchFamily="34" charset="0"/>
            </a:endParaRPr>
          </a:p>
          <a:p>
            <a:pPr>
              <a:buFont typeface="Wingdings" panose="05000000000000000000" pitchFamily="2" charset="2"/>
              <a:buChar char="v"/>
            </a:pPr>
            <a:r>
              <a:rPr lang="en-US" sz="2100" dirty="0">
                <a:solidFill>
                  <a:srgbClr val="FF0000"/>
                </a:solidFill>
                <a:latin typeface="Berlin Sans FB Demi" panose="020E0802020502020306" pitchFamily="34" charset="0"/>
              </a:rPr>
              <a:t> </a:t>
            </a:r>
            <a:r>
              <a:rPr lang="en-IN" sz="2100" dirty="0">
                <a:solidFill>
                  <a:srgbClr val="FF0000"/>
                </a:solidFill>
                <a:latin typeface="Berlin Sans FB Demi" panose="020E0802020502020306" pitchFamily="34" charset="0"/>
              </a:rPr>
              <a:t>BASE MODEL TREE </a:t>
            </a:r>
          </a:p>
          <a:p>
            <a:pPr>
              <a:buFont typeface="Wingdings" panose="05000000000000000000" pitchFamily="2" charset="2"/>
              <a:buChar char="v"/>
            </a:pPr>
            <a:r>
              <a:rPr lang="en-IN" sz="2100" dirty="0">
                <a:solidFill>
                  <a:srgbClr val="FF0000"/>
                </a:solidFill>
                <a:latin typeface="Berlin Sans FB Demi" panose="020E0802020502020306" pitchFamily="34" charset="0"/>
              </a:rPr>
              <a:t>REFERENCES</a:t>
            </a:r>
          </a:p>
          <a:p>
            <a:pPr>
              <a:buFont typeface="Wingdings" panose="05000000000000000000" pitchFamily="2" charset="2"/>
              <a:buChar char="v"/>
            </a:pPr>
            <a:endParaRPr lang="en-IN" sz="2100" dirty="0">
              <a:solidFill>
                <a:srgbClr val="FF0000"/>
              </a:solidFill>
              <a:latin typeface="Berlin Sans FB Demi" panose="020E0802020502020306" pitchFamily="34" charset="0"/>
            </a:endParaRPr>
          </a:p>
          <a:p>
            <a:pPr marL="0" indent="0">
              <a:buNone/>
            </a:pPr>
            <a:endParaRPr lang="en-US" dirty="0">
              <a:solidFill>
                <a:schemeClr val="accent1"/>
              </a:solidFill>
            </a:endParaRPr>
          </a:p>
          <a:p>
            <a:pPr>
              <a:buFont typeface="Wingdings" panose="05000000000000000000" pitchFamily="2" charset="2"/>
              <a:buChar char="v"/>
            </a:pPr>
            <a:endParaRPr lang="en-US" dirty="0">
              <a:solidFill>
                <a:schemeClr val="accent1"/>
              </a:solidFill>
            </a:endParaRPr>
          </a:p>
          <a:p>
            <a:pPr>
              <a:buFont typeface="Wingdings" panose="05000000000000000000" pitchFamily="2" charset="2"/>
              <a:buChar char="v"/>
            </a:pPr>
            <a:endParaRPr lang="en-US" dirty="0">
              <a:solidFill>
                <a:schemeClr val="accent1"/>
              </a:solidFill>
            </a:endParaRPr>
          </a:p>
          <a:p>
            <a:pPr>
              <a:buFont typeface="Wingdings" panose="05000000000000000000" pitchFamily="2" charset="2"/>
              <a:buChar char="v"/>
            </a:pPr>
            <a:endParaRPr lang="en-US" dirty="0">
              <a:solidFill>
                <a:schemeClr val="accent1"/>
              </a:solidFill>
            </a:endParaRPr>
          </a:p>
          <a:p>
            <a:pPr>
              <a:buFont typeface="Wingdings" panose="05000000000000000000" pitchFamily="2" charset="2"/>
              <a:buChar char="v"/>
            </a:pPr>
            <a:endParaRPr lang="en-US" dirty="0">
              <a:solidFill>
                <a:schemeClr val="accent1"/>
              </a:solidFill>
            </a:endParaRPr>
          </a:p>
          <a:p>
            <a:pPr>
              <a:buFont typeface="Wingdings" panose="05000000000000000000" pitchFamily="2" charset="2"/>
              <a:buChar char="v"/>
            </a:pPr>
            <a:endParaRPr lang="en-US" dirty="0">
              <a:solidFill>
                <a:schemeClr val="accent1"/>
              </a:solidFill>
            </a:endParaRPr>
          </a:p>
        </p:txBody>
      </p:sp>
      <p:pic>
        <p:nvPicPr>
          <p:cNvPr id="6" name="image3.png">
            <a:extLst>
              <a:ext uri="{FF2B5EF4-FFF2-40B4-BE49-F238E27FC236}">
                <a16:creationId xmlns:a16="http://schemas.microsoft.com/office/drawing/2014/main" id="{509B7572-0937-4BE8-9311-02AF9485D5E2}"/>
              </a:ext>
            </a:extLst>
          </p:cNvPr>
          <p:cNvPicPr/>
          <p:nvPr/>
        </p:nvPicPr>
        <p:blipFill>
          <a:blip r:embed="rId2"/>
          <a:srcRect/>
          <a:stretch>
            <a:fillRect/>
          </a:stretch>
        </p:blipFill>
        <p:spPr>
          <a:xfrm>
            <a:off x="8134350" y="395288"/>
            <a:ext cx="2295525" cy="971548"/>
          </a:xfrm>
          <a:prstGeom prst="rect">
            <a:avLst/>
          </a:prstGeom>
          <a:ln>
            <a:solidFill>
              <a:schemeClr val="accent3"/>
            </a:solidFill>
          </a:ln>
        </p:spPr>
      </p:pic>
    </p:spTree>
    <p:extLst>
      <p:ext uri="{BB962C8B-B14F-4D97-AF65-F5344CB8AC3E}">
        <p14:creationId xmlns:p14="http://schemas.microsoft.com/office/powerpoint/2010/main" val="925249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xit" presetSubtype="1" fill="hold" grpId="0" nodeType="clickEffect">
                                  <p:stCondLst>
                                    <p:cond delay="0"/>
                                  </p:stCondLst>
                                  <p:childTnLst>
                                    <p:animEffect transition="out" filter="wheel(1)">
                                      <p:cBhvr>
                                        <p:cTn id="6" dur="2000"/>
                                        <p:tgtEl>
                                          <p:spTgt spid="2"/>
                                        </p:tgtEl>
                                      </p:cBhvr>
                                    </p:animEffect>
                                    <p:set>
                                      <p:cBhvr>
                                        <p:cTn id="7" dur="1" fill="hold">
                                          <p:stCondLst>
                                            <p:cond delay="1999"/>
                                          </p:stCondLst>
                                        </p:cTn>
                                        <p:tgtEl>
                                          <p:spTgt spid="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bg/>
                                          </p:spTgt>
                                        </p:tgtEl>
                                        <p:attrNameLst>
                                          <p:attrName>style.visibility</p:attrName>
                                        </p:attrNameLst>
                                      </p:cBhvr>
                                      <p:to>
                                        <p:strVal val="visible"/>
                                      </p:to>
                                    </p:set>
                                    <p:animEffect transition="in" filter="fade">
                                      <p:cBhvr>
                                        <p:cTn id="12" dur="1000"/>
                                        <p:tgtEl>
                                          <p:spTgt spid="3">
                                            <p:bg/>
                                          </p:spTgt>
                                        </p:tgtEl>
                                      </p:cBhvr>
                                    </p:animEffect>
                                    <p:anim calcmode="lin" valueType="num">
                                      <p:cBhvr>
                                        <p:cTn id="13" dur="1000" fill="hold"/>
                                        <p:tgtEl>
                                          <p:spTgt spid="3">
                                            <p:bg/>
                                          </p:spTgt>
                                        </p:tgtEl>
                                        <p:attrNameLst>
                                          <p:attrName>ppt_x</p:attrName>
                                        </p:attrNameLst>
                                      </p:cBhvr>
                                      <p:tavLst>
                                        <p:tav tm="0">
                                          <p:val>
                                            <p:strVal val="#ppt_x"/>
                                          </p:val>
                                        </p:tav>
                                        <p:tav tm="100000">
                                          <p:val>
                                            <p:strVal val="#ppt_x"/>
                                          </p:val>
                                        </p:tav>
                                      </p:tavLst>
                                    </p:anim>
                                    <p:anim calcmode="lin" valueType="num">
                                      <p:cBhvr>
                                        <p:cTn id="14"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fade">
                                      <p:cBhvr>
                                        <p:cTn id="19" dur="1000"/>
                                        <p:tgtEl>
                                          <p:spTgt spid="3">
                                            <p:txEl>
                                              <p:pRg st="0" end="0"/>
                                            </p:txEl>
                                          </p:spTgt>
                                        </p:tgtEl>
                                      </p:cBhvr>
                                    </p:animEffect>
                                    <p:anim calcmode="lin" valueType="num">
                                      <p:cBhvr>
                                        <p:cTn id="20"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1" end="1"/>
                                            </p:txEl>
                                          </p:spTgt>
                                        </p:tgtEl>
                                        <p:attrNameLst>
                                          <p:attrName>style.visibility</p:attrName>
                                        </p:attrNameLst>
                                      </p:cBhvr>
                                      <p:to>
                                        <p:strVal val="visible"/>
                                      </p:to>
                                    </p:set>
                                    <p:animEffect transition="in" filter="fade">
                                      <p:cBhvr>
                                        <p:cTn id="26" dur="1000"/>
                                        <p:tgtEl>
                                          <p:spTgt spid="3">
                                            <p:txEl>
                                              <p:pRg st="1" end="1"/>
                                            </p:txEl>
                                          </p:spTgt>
                                        </p:tgtEl>
                                      </p:cBhvr>
                                    </p:animEffect>
                                    <p:anim calcmode="lin" valueType="num">
                                      <p:cBhvr>
                                        <p:cTn id="27"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2" end="2"/>
                                            </p:txEl>
                                          </p:spTgt>
                                        </p:tgtEl>
                                        <p:attrNameLst>
                                          <p:attrName>style.visibility</p:attrName>
                                        </p:attrNameLst>
                                      </p:cBhvr>
                                      <p:to>
                                        <p:strVal val="visible"/>
                                      </p:to>
                                    </p:set>
                                    <p:animEffect transition="in" filter="fade">
                                      <p:cBhvr>
                                        <p:cTn id="33" dur="1000"/>
                                        <p:tgtEl>
                                          <p:spTgt spid="3">
                                            <p:txEl>
                                              <p:pRg st="2" end="2"/>
                                            </p:txEl>
                                          </p:spTgt>
                                        </p:tgtEl>
                                      </p:cBhvr>
                                    </p:animEffect>
                                    <p:anim calcmode="lin" valueType="num">
                                      <p:cBhvr>
                                        <p:cTn id="34"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3" end="3"/>
                                            </p:txEl>
                                          </p:spTgt>
                                        </p:tgtEl>
                                        <p:attrNameLst>
                                          <p:attrName>style.visibility</p:attrName>
                                        </p:attrNameLst>
                                      </p:cBhvr>
                                      <p:to>
                                        <p:strVal val="visible"/>
                                      </p:to>
                                    </p:set>
                                    <p:animEffect transition="in" filter="fade">
                                      <p:cBhvr>
                                        <p:cTn id="40" dur="1000"/>
                                        <p:tgtEl>
                                          <p:spTgt spid="3">
                                            <p:txEl>
                                              <p:pRg st="3" end="3"/>
                                            </p:txEl>
                                          </p:spTgt>
                                        </p:tgtEl>
                                      </p:cBhvr>
                                    </p:animEffect>
                                    <p:anim calcmode="lin" valueType="num">
                                      <p:cBhvr>
                                        <p:cTn id="41"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Effect transition="in" filter="fade">
                                      <p:cBhvr>
                                        <p:cTn id="47" dur="1000"/>
                                        <p:tgtEl>
                                          <p:spTgt spid="3">
                                            <p:txEl>
                                              <p:pRg st="4" end="4"/>
                                            </p:txEl>
                                          </p:spTgt>
                                        </p:tgtEl>
                                      </p:cBhvr>
                                    </p:animEffect>
                                    <p:anim calcmode="lin" valueType="num">
                                      <p:cBhvr>
                                        <p:cTn id="4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3">
                                            <p:txEl>
                                              <p:pRg st="5" end="5"/>
                                            </p:txEl>
                                          </p:spTgt>
                                        </p:tgtEl>
                                        <p:attrNameLst>
                                          <p:attrName>style.visibility</p:attrName>
                                        </p:attrNameLst>
                                      </p:cBhvr>
                                      <p:to>
                                        <p:strVal val="visible"/>
                                      </p:to>
                                    </p:set>
                                    <p:animEffect transition="in" filter="fade">
                                      <p:cBhvr>
                                        <p:cTn id="54" dur="1000"/>
                                        <p:tgtEl>
                                          <p:spTgt spid="3">
                                            <p:txEl>
                                              <p:pRg st="5" end="5"/>
                                            </p:txEl>
                                          </p:spTgt>
                                        </p:tgtEl>
                                      </p:cBhvr>
                                    </p:animEffect>
                                    <p:anim calcmode="lin" valueType="num">
                                      <p:cBhvr>
                                        <p:cTn id="5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3">
                                            <p:txEl>
                                              <p:pRg st="6" end="6"/>
                                            </p:txEl>
                                          </p:spTgt>
                                        </p:tgtEl>
                                        <p:attrNameLst>
                                          <p:attrName>style.visibility</p:attrName>
                                        </p:attrNameLst>
                                      </p:cBhvr>
                                      <p:to>
                                        <p:strVal val="visible"/>
                                      </p:to>
                                    </p:set>
                                    <p:animEffect transition="in" filter="fade">
                                      <p:cBhvr>
                                        <p:cTn id="61" dur="1000"/>
                                        <p:tgtEl>
                                          <p:spTgt spid="3">
                                            <p:txEl>
                                              <p:pRg st="6" end="6"/>
                                            </p:txEl>
                                          </p:spTgt>
                                        </p:tgtEl>
                                      </p:cBhvr>
                                    </p:animEffect>
                                    <p:anim calcmode="lin" valueType="num">
                                      <p:cBhvr>
                                        <p:cTn id="6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3">
                                            <p:txEl>
                                              <p:pRg st="7" end="7"/>
                                            </p:txEl>
                                          </p:spTgt>
                                        </p:tgtEl>
                                        <p:attrNameLst>
                                          <p:attrName>style.visibility</p:attrName>
                                        </p:attrNameLst>
                                      </p:cBhvr>
                                      <p:to>
                                        <p:strVal val="visible"/>
                                      </p:to>
                                    </p:set>
                                    <p:animEffect transition="in" filter="fade">
                                      <p:cBhvr>
                                        <p:cTn id="68" dur="1000"/>
                                        <p:tgtEl>
                                          <p:spTgt spid="3">
                                            <p:txEl>
                                              <p:pRg st="7" end="7"/>
                                            </p:txEl>
                                          </p:spTgt>
                                        </p:tgtEl>
                                      </p:cBhvr>
                                    </p:animEffect>
                                    <p:anim calcmode="lin" valueType="num">
                                      <p:cBhvr>
                                        <p:cTn id="6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70"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3">
                                            <p:txEl>
                                              <p:pRg st="8" end="8"/>
                                            </p:txEl>
                                          </p:spTgt>
                                        </p:tgtEl>
                                        <p:attrNameLst>
                                          <p:attrName>style.visibility</p:attrName>
                                        </p:attrNameLst>
                                      </p:cBhvr>
                                      <p:to>
                                        <p:strVal val="visible"/>
                                      </p:to>
                                    </p:set>
                                    <p:animEffect transition="in" filter="fade">
                                      <p:cBhvr>
                                        <p:cTn id="75" dur="1000"/>
                                        <p:tgtEl>
                                          <p:spTgt spid="3">
                                            <p:txEl>
                                              <p:pRg st="8" end="8"/>
                                            </p:txEl>
                                          </p:spTgt>
                                        </p:tgtEl>
                                      </p:cBhvr>
                                    </p:animEffect>
                                    <p:anim calcmode="lin" valueType="num">
                                      <p:cBhvr>
                                        <p:cTn id="7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77"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3">
                                            <p:txEl>
                                              <p:pRg st="9" end="9"/>
                                            </p:txEl>
                                          </p:spTgt>
                                        </p:tgtEl>
                                        <p:attrNameLst>
                                          <p:attrName>style.visibility</p:attrName>
                                        </p:attrNameLst>
                                      </p:cBhvr>
                                      <p:to>
                                        <p:strVal val="visible"/>
                                      </p:to>
                                    </p:set>
                                    <p:animEffect transition="in" filter="fade">
                                      <p:cBhvr>
                                        <p:cTn id="82" dur="1000"/>
                                        <p:tgtEl>
                                          <p:spTgt spid="3">
                                            <p:txEl>
                                              <p:pRg st="9" end="9"/>
                                            </p:txEl>
                                          </p:spTgt>
                                        </p:tgtEl>
                                      </p:cBhvr>
                                    </p:animEffect>
                                    <p:anim calcmode="lin" valueType="num">
                                      <p:cBhvr>
                                        <p:cTn id="83"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84"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grpId="0" nodeType="clickEffect">
                                  <p:stCondLst>
                                    <p:cond delay="0"/>
                                  </p:stCondLst>
                                  <p:childTnLst>
                                    <p:set>
                                      <p:cBhvr>
                                        <p:cTn id="88" dur="1" fill="hold">
                                          <p:stCondLst>
                                            <p:cond delay="0"/>
                                          </p:stCondLst>
                                        </p:cTn>
                                        <p:tgtEl>
                                          <p:spTgt spid="3">
                                            <p:txEl>
                                              <p:pRg st="10" end="10"/>
                                            </p:txEl>
                                          </p:spTgt>
                                        </p:tgtEl>
                                        <p:attrNameLst>
                                          <p:attrName>style.visibility</p:attrName>
                                        </p:attrNameLst>
                                      </p:cBhvr>
                                      <p:to>
                                        <p:strVal val="visible"/>
                                      </p:to>
                                    </p:set>
                                    <p:animEffect transition="in" filter="fade">
                                      <p:cBhvr>
                                        <p:cTn id="89" dur="1000"/>
                                        <p:tgtEl>
                                          <p:spTgt spid="3">
                                            <p:txEl>
                                              <p:pRg st="10" end="10"/>
                                            </p:txEl>
                                          </p:spTgt>
                                        </p:tgtEl>
                                      </p:cBhvr>
                                    </p:animEffect>
                                    <p:anim calcmode="lin" valueType="num">
                                      <p:cBhvr>
                                        <p:cTn id="90"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91"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42" presetClass="entr" presetSubtype="0" fill="hold" grpId="0" nodeType="clickEffect">
                                  <p:stCondLst>
                                    <p:cond delay="0"/>
                                  </p:stCondLst>
                                  <p:childTnLst>
                                    <p:set>
                                      <p:cBhvr>
                                        <p:cTn id="95" dur="1" fill="hold">
                                          <p:stCondLst>
                                            <p:cond delay="0"/>
                                          </p:stCondLst>
                                        </p:cTn>
                                        <p:tgtEl>
                                          <p:spTgt spid="3">
                                            <p:txEl>
                                              <p:pRg st="11" end="11"/>
                                            </p:txEl>
                                          </p:spTgt>
                                        </p:tgtEl>
                                        <p:attrNameLst>
                                          <p:attrName>style.visibility</p:attrName>
                                        </p:attrNameLst>
                                      </p:cBhvr>
                                      <p:to>
                                        <p:strVal val="visible"/>
                                      </p:to>
                                    </p:set>
                                    <p:animEffect transition="in" filter="fade">
                                      <p:cBhvr>
                                        <p:cTn id="96" dur="1000"/>
                                        <p:tgtEl>
                                          <p:spTgt spid="3">
                                            <p:txEl>
                                              <p:pRg st="11" end="11"/>
                                            </p:txEl>
                                          </p:spTgt>
                                        </p:tgtEl>
                                      </p:cBhvr>
                                    </p:animEffect>
                                    <p:anim calcmode="lin" valueType="num">
                                      <p:cBhvr>
                                        <p:cTn id="97"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98"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42" presetClass="entr" presetSubtype="0" fill="hold" grpId="0" nodeType="clickEffect">
                                  <p:stCondLst>
                                    <p:cond delay="0"/>
                                  </p:stCondLst>
                                  <p:childTnLst>
                                    <p:set>
                                      <p:cBhvr>
                                        <p:cTn id="102" dur="1" fill="hold">
                                          <p:stCondLst>
                                            <p:cond delay="0"/>
                                          </p:stCondLst>
                                        </p:cTn>
                                        <p:tgtEl>
                                          <p:spTgt spid="3">
                                            <p:txEl>
                                              <p:pRg st="12" end="12"/>
                                            </p:txEl>
                                          </p:spTgt>
                                        </p:tgtEl>
                                        <p:attrNameLst>
                                          <p:attrName>style.visibility</p:attrName>
                                        </p:attrNameLst>
                                      </p:cBhvr>
                                      <p:to>
                                        <p:strVal val="visible"/>
                                      </p:to>
                                    </p:set>
                                    <p:animEffect transition="in" filter="fade">
                                      <p:cBhvr>
                                        <p:cTn id="103" dur="1000"/>
                                        <p:tgtEl>
                                          <p:spTgt spid="3">
                                            <p:txEl>
                                              <p:pRg st="12" end="12"/>
                                            </p:txEl>
                                          </p:spTgt>
                                        </p:tgtEl>
                                      </p:cBhvr>
                                    </p:animEffect>
                                    <p:anim calcmode="lin" valueType="num">
                                      <p:cBhvr>
                                        <p:cTn id="104"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105"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36EB8-D38F-430D-9276-FCB83A728424}"/>
              </a:ext>
            </a:extLst>
          </p:cNvPr>
          <p:cNvSpPr>
            <a:spLocks noGrp="1"/>
          </p:cNvSpPr>
          <p:nvPr>
            <p:ph type="title"/>
          </p:nvPr>
        </p:nvSpPr>
        <p:spPr>
          <a:xfrm>
            <a:off x="1154953" y="973668"/>
            <a:ext cx="9274922" cy="706964"/>
          </a:xfrm>
          <a:solidFill>
            <a:schemeClr val="accent3"/>
          </a:solidFill>
          <a:ln>
            <a:solidFill>
              <a:schemeClr val="tx2">
                <a:lumMod val="40000"/>
                <a:lumOff val="60000"/>
              </a:schemeClr>
            </a:solidFill>
          </a:ln>
        </p:spPr>
        <p:txBody>
          <a:bodyPr/>
          <a:lstStyle/>
          <a:p>
            <a:r>
              <a:rPr lang="en-US" sz="3200" dirty="0"/>
              <a:t>INTRODUCTION:- CLIMATE CHANGE </a:t>
            </a:r>
          </a:p>
        </p:txBody>
      </p:sp>
      <p:sp>
        <p:nvSpPr>
          <p:cNvPr id="3" name="Content Placeholder 2">
            <a:extLst>
              <a:ext uri="{FF2B5EF4-FFF2-40B4-BE49-F238E27FC236}">
                <a16:creationId xmlns:a16="http://schemas.microsoft.com/office/drawing/2014/main" id="{81C93030-3B59-488A-9389-A0E84034C29F}"/>
              </a:ext>
            </a:extLst>
          </p:cNvPr>
          <p:cNvSpPr>
            <a:spLocks noGrp="1"/>
          </p:cNvSpPr>
          <p:nvPr>
            <p:ph idx="1"/>
          </p:nvPr>
        </p:nvSpPr>
        <p:spPr>
          <a:xfrm>
            <a:off x="1154952" y="2286001"/>
            <a:ext cx="9817847" cy="4572000"/>
          </a:xfrm>
          <a:solidFill>
            <a:schemeClr val="accent3">
              <a:lumMod val="20000"/>
              <a:lumOff val="80000"/>
            </a:schemeClr>
          </a:solidFill>
        </p:spPr>
        <p:txBody>
          <a:bodyPr>
            <a:normAutofit/>
          </a:bodyPr>
          <a:lstStyle/>
          <a:p>
            <a:pPr>
              <a:lnSpc>
                <a:spcPct val="130000"/>
              </a:lnSpc>
              <a:buFont typeface="Wingdings" panose="05000000000000000000" pitchFamily="2" charset="2"/>
              <a:buChar char="v"/>
            </a:pPr>
            <a:r>
              <a:rPr lang="en-IN" sz="2000" b="1" dirty="0">
                <a:solidFill>
                  <a:schemeClr val="tx1"/>
                </a:solidFill>
                <a:latin typeface="Agency FB" panose="020B0503020202020204" pitchFamily="34" charset="0"/>
                <a:ea typeface="Proxima Nova"/>
                <a:cs typeface="Proxima Nova"/>
              </a:rPr>
              <a:t>Climate change is a depiction of science that has been gen up for many years and The Crux of the matter in recent era is the Global warming. </a:t>
            </a:r>
          </a:p>
          <a:p>
            <a:pPr>
              <a:lnSpc>
                <a:spcPct val="130000"/>
              </a:lnSpc>
              <a:buFont typeface="Wingdings" panose="05000000000000000000" pitchFamily="2" charset="2"/>
              <a:buChar char="v"/>
            </a:pPr>
            <a:r>
              <a:rPr lang="en-IN" sz="2000" b="1" dirty="0">
                <a:solidFill>
                  <a:schemeClr val="tx1"/>
                </a:solidFill>
                <a:latin typeface="Agency FB" panose="020B0503020202020204" pitchFamily="34" charset="0"/>
                <a:ea typeface="Proxima Nova"/>
                <a:cs typeface="Proxima Nova"/>
              </a:rPr>
              <a:t>The bring on this, is the increase in extreme weather events and unbroken series of hottest years on record.</a:t>
            </a:r>
          </a:p>
          <a:p>
            <a:pPr>
              <a:lnSpc>
                <a:spcPct val="130000"/>
              </a:lnSpc>
              <a:buFont typeface="Wingdings" panose="05000000000000000000" pitchFamily="2" charset="2"/>
              <a:buChar char="v"/>
            </a:pPr>
            <a:r>
              <a:rPr lang="en-IN" sz="2000" b="1" dirty="0">
                <a:solidFill>
                  <a:schemeClr val="tx1"/>
                </a:solidFill>
                <a:latin typeface="Agency FB" panose="020B0503020202020204" pitchFamily="34" charset="0"/>
                <a:ea typeface="Proxima Nova"/>
                <a:cs typeface="Proxima Nova"/>
              </a:rPr>
              <a:t> The reduction in temperature can only be achieved through a significant reduction in the emission of greenhouse gases like CO2, Methane, Nitrous Oxide etc.   as per The  Paris Agreement</a:t>
            </a:r>
          </a:p>
          <a:p>
            <a:pPr>
              <a:lnSpc>
                <a:spcPct val="130000"/>
              </a:lnSpc>
              <a:buFont typeface="Wingdings" panose="05000000000000000000" pitchFamily="2" charset="2"/>
              <a:buChar char="v"/>
            </a:pPr>
            <a:r>
              <a:rPr lang="en-IN" sz="2000" b="1" dirty="0">
                <a:solidFill>
                  <a:schemeClr val="tx1"/>
                </a:solidFill>
                <a:latin typeface="Agency FB" panose="020B0503020202020204" pitchFamily="34" charset="0"/>
                <a:ea typeface="Proxima Nova"/>
                <a:cs typeface="Proxima Nova"/>
              </a:rPr>
              <a:t> The  Paris Agreement is an agreement among the leaders of over 180 countries to reduce greenhouse gas  emissions and limit the global temperature increase to below 2 degrees Celsius (3.6 F) above pre-industrial levels by the year 2100.</a:t>
            </a:r>
            <a:endParaRPr lang="en-US" sz="2000" b="1" dirty="0">
              <a:solidFill>
                <a:schemeClr val="tx1"/>
              </a:solidFill>
              <a:latin typeface="Agency FB" panose="020B0503020202020204" pitchFamily="34" charset="0"/>
              <a:ea typeface="Proxima Nova"/>
              <a:cs typeface="Proxima Nova"/>
            </a:endParaRPr>
          </a:p>
        </p:txBody>
      </p:sp>
      <p:pic>
        <p:nvPicPr>
          <p:cNvPr id="4" name="image3.png">
            <a:extLst>
              <a:ext uri="{FF2B5EF4-FFF2-40B4-BE49-F238E27FC236}">
                <a16:creationId xmlns:a16="http://schemas.microsoft.com/office/drawing/2014/main" id="{94692084-3CCA-4371-BF9E-7F3379CA3C7C}"/>
              </a:ext>
            </a:extLst>
          </p:cNvPr>
          <p:cNvPicPr/>
          <p:nvPr/>
        </p:nvPicPr>
        <p:blipFill>
          <a:blip r:embed="rId2"/>
          <a:srcRect/>
          <a:stretch>
            <a:fillRect/>
          </a:stretch>
        </p:blipFill>
        <p:spPr>
          <a:xfrm>
            <a:off x="8753474" y="973669"/>
            <a:ext cx="1676401" cy="706964"/>
          </a:xfrm>
          <a:prstGeom prst="rect">
            <a:avLst/>
          </a:prstGeom>
          <a:ln>
            <a:solidFill>
              <a:schemeClr val="accent3"/>
            </a:solidFill>
          </a:ln>
        </p:spPr>
      </p:pic>
    </p:spTree>
    <p:extLst>
      <p:ext uri="{BB962C8B-B14F-4D97-AF65-F5344CB8AC3E}">
        <p14:creationId xmlns:p14="http://schemas.microsoft.com/office/powerpoint/2010/main" val="349793018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bg/>
                                          </p:spTgt>
                                        </p:tgtEl>
                                        <p:attrNameLst>
                                          <p:attrName>style.visibility</p:attrName>
                                        </p:attrNameLst>
                                      </p:cBhvr>
                                      <p:to>
                                        <p:strVal val="visible"/>
                                      </p:to>
                                    </p:set>
                                    <p:animEffect transition="in" filter="fade">
                                      <p:cBhvr>
                                        <p:cTn id="12" dur="1000"/>
                                        <p:tgtEl>
                                          <p:spTgt spid="3">
                                            <p:bg/>
                                          </p:spTgt>
                                        </p:tgtEl>
                                      </p:cBhvr>
                                    </p:animEffect>
                                    <p:anim calcmode="lin" valueType="num">
                                      <p:cBhvr>
                                        <p:cTn id="13" dur="1000" fill="hold"/>
                                        <p:tgtEl>
                                          <p:spTgt spid="3">
                                            <p:bg/>
                                          </p:spTgt>
                                        </p:tgtEl>
                                        <p:attrNameLst>
                                          <p:attrName>ppt_x</p:attrName>
                                        </p:attrNameLst>
                                      </p:cBhvr>
                                      <p:tavLst>
                                        <p:tav tm="0">
                                          <p:val>
                                            <p:strVal val="#ppt_x"/>
                                          </p:val>
                                        </p:tav>
                                        <p:tav tm="100000">
                                          <p:val>
                                            <p:strVal val="#ppt_x"/>
                                          </p:val>
                                        </p:tav>
                                      </p:tavLst>
                                    </p:anim>
                                    <p:anim calcmode="lin" valueType="num">
                                      <p:cBhvr>
                                        <p:cTn id="14"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fade">
                                      <p:cBhvr>
                                        <p:cTn id="19" dur="1000"/>
                                        <p:tgtEl>
                                          <p:spTgt spid="3">
                                            <p:txEl>
                                              <p:pRg st="0" end="0"/>
                                            </p:txEl>
                                          </p:spTgt>
                                        </p:tgtEl>
                                      </p:cBhvr>
                                    </p:animEffect>
                                    <p:anim calcmode="lin" valueType="num">
                                      <p:cBhvr>
                                        <p:cTn id="20"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1" end="1"/>
                                            </p:txEl>
                                          </p:spTgt>
                                        </p:tgtEl>
                                        <p:attrNameLst>
                                          <p:attrName>style.visibility</p:attrName>
                                        </p:attrNameLst>
                                      </p:cBhvr>
                                      <p:to>
                                        <p:strVal val="visible"/>
                                      </p:to>
                                    </p:set>
                                    <p:animEffect transition="in" filter="fade">
                                      <p:cBhvr>
                                        <p:cTn id="26" dur="1000"/>
                                        <p:tgtEl>
                                          <p:spTgt spid="3">
                                            <p:txEl>
                                              <p:pRg st="1" end="1"/>
                                            </p:txEl>
                                          </p:spTgt>
                                        </p:tgtEl>
                                      </p:cBhvr>
                                    </p:animEffect>
                                    <p:anim calcmode="lin" valueType="num">
                                      <p:cBhvr>
                                        <p:cTn id="27"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2" end="2"/>
                                            </p:txEl>
                                          </p:spTgt>
                                        </p:tgtEl>
                                        <p:attrNameLst>
                                          <p:attrName>style.visibility</p:attrName>
                                        </p:attrNameLst>
                                      </p:cBhvr>
                                      <p:to>
                                        <p:strVal val="visible"/>
                                      </p:to>
                                    </p:set>
                                    <p:animEffect transition="in" filter="fade">
                                      <p:cBhvr>
                                        <p:cTn id="33" dur="1000"/>
                                        <p:tgtEl>
                                          <p:spTgt spid="3">
                                            <p:txEl>
                                              <p:pRg st="2" end="2"/>
                                            </p:txEl>
                                          </p:spTgt>
                                        </p:tgtEl>
                                      </p:cBhvr>
                                    </p:animEffect>
                                    <p:anim calcmode="lin" valueType="num">
                                      <p:cBhvr>
                                        <p:cTn id="34"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3" end="3"/>
                                            </p:txEl>
                                          </p:spTgt>
                                        </p:tgtEl>
                                        <p:attrNameLst>
                                          <p:attrName>style.visibility</p:attrName>
                                        </p:attrNameLst>
                                      </p:cBhvr>
                                      <p:to>
                                        <p:strVal val="visible"/>
                                      </p:to>
                                    </p:set>
                                    <p:animEffect transition="in" filter="fade">
                                      <p:cBhvr>
                                        <p:cTn id="40" dur="1000"/>
                                        <p:tgtEl>
                                          <p:spTgt spid="3">
                                            <p:txEl>
                                              <p:pRg st="3" end="3"/>
                                            </p:txEl>
                                          </p:spTgt>
                                        </p:tgtEl>
                                      </p:cBhvr>
                                    </p:animEffect>
                                    <p:anim calcmode="lin" valueType="num">
                                      <p:cBhvr>
                                        <p:cTn id="41"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AFCDE-0C5E-4C84-B85B-DFCA5FD83203}"/>
              </a:ext>
            </a:extLst>
          </p:cNvPr>
          <p:cNvSpPr>
            <a:spLocks noGrp="1"/>
          </p:cNvSpPr>
          <p:nvPr>
            <p:ph type="title"/>
          </p:nvPr>
        </p:nvSpPr>
        <p:spPr/>
        <p:txBody>
          <a:bodyPr/>
          <a:lstStyle/>
          <a:p>
            <a:r>
              <a:rPr lang="en-US" dirty="0"/>
              <a:t>OBJECTIVE OF STUDY:-</a:t>
            </a:r>
          </a:p>
        </p:txBody>
      </p:sp>
      <p:sp>
        <p:nvSpPr>
          <p:cNvPr id="3" name="Content Placeholder 2">
            <a:extLst>
              <a:ext uri="{FF2B5EF4-FFF2-40B4-BE49-F238E27FC236}">
                <a16:creationId xmlns:a16="http://schemas.microsoft.com/office/drawing/2014/main" id="{C011B74D-F618-46C9-AB4C-7C9D8BC633D9}"/>
              </a:ext>
            </a:extLst>
          </p:cNvPr>
          <p:cNvSpPr>
            <a:spLocks noGrp="1"/>
          </p:cNvSpPr>
          <p:nvPr>
            <p:ph idx="1"/>
          </p:nvPr>
        </p:nvSpPr>
        <p:spPr>
          <a:xfrm>
            <a:off x="161925" y="2314573"/>
            <a:ext cx="11410950" cy="4543425"/>
          </a:xfrm>
        </p:spPr>
        <p:txBody>
          <a:bodyPr>
            <a:normAutofit/>
          </a:bodyPr>
          <a:lstStyle/>
          <a:p>
            <a:pPr>
              <a:buFont typeface="Wingdings" panose="05000000000000000000" pitchFamily="2" charset="2"/>
              <a:buChar char="v"/>
            </a:pPr>
            <a:r>
              <a:rPr lang="en-US" sz="2800" b="1" dirty="0">
                <a:solidFill>
                  <a:schemeClr val="tx1"/>
                </a:solidFill>
                <a:latin typeface="Agency FB" panose="020B0503020202020204" pitchFamily="34" charset="0"/>
              </a:rPr>
              <a:t>Identification Of Major Contributing Factors Towards Global Warming hence Causing Climate Change.</a:t>
            </a:r>
          </a:p>
          <a:p>
            <a:pPr>
              <a:buFont typeface="Wingdings" panose="05000000000000000000" pitchFamily="2" charset="2"/>
              <a:buChar char="v"/>
            </a:pPr>
            <a:r>
              <a:rPr lang="en-US" sz="2800" b="1" dirty="0">
                <a:solidFill>
                  <a:schemeClr val="tx1"/>
                </a:solidFill>
                <a:latin typeface="Agency FB" panose="020B0503020202020204" pitchFamily="34" charset="0"/>
              </a:rPr>
              <a:t>Areas of working which Improvises in Reducing Global Warming.</a:t>
            </a:r>
          </a:p>
          <a:p>
            <a:pPr>
              <a:buFont typeface="Wingdings" panose="05000000000000000000" pitchFamily="2" charset="2"/>
              <a:buChar char="v"/>
            </a:pPr>
            <a:endParaRPr lang="en-US" sz="2800" b="1" dirty="0">
              <a:solidFill>
                <a:schemeClr val="tx1"/>
              </a:solidFill>
              <a:latin typeface="Agency FB" panose="020B0503020202020204" pitchFamily="34" charset="0"/>
            </a:endParaRPr>
          </a:p>
          <a:p>
            <a:pPr>
              <a:buFont typeface="Wingdings" panose="05000000000000000000" pitchFamily="2" charset="2"/>
              <a:buChar char="v"/>
            </a:pPr>
            <a:endParaRPr lang="en-US" dirty="0">
              <a:solidFill>
                <a:srgbClr val="00B050"/>
              </a:solidFill>
            </a:endParaRPr>
          </a:p>
        </p:txBody>
      </p:sp>
      <p:pic>
        <p:nvPicPr>
          <p:cNvPr id="6" name="image3.png">
            <a:extLst>
              <a:ext uri="{FF2B5EF4-FFF2-40B4-BE49-F238E27FC236}">
                <a16:creationId xmlns:a16="http://schemas.microsoft.com/office/drawing/2014/main" id="{65E26008-AB45-44C8-AC46-DA39A329F0F8}"/>
              </a:ext>
            </a:extLst>
          </p:cNvPr>
          <p:cNvPicPr/>
          <p:nvPr/>
        </p:nvPicPr>
        <p:blipFill>
          <a:blip r:embed="rId2"/>
          <a:srcRect/>
          <a:stretch>
            <a:fillRect/>
          </a:stretch>
        </p:blipFill>
        <p:spPr>
          <a:xfrm>
            <a:off x="7620841" y="973668"/>
            <a:ext cx="2295525" cy="706965"/>
          </a:xfrm>
          <a:prstGeom prst="rect">
            <a:avLst/>
          </a:prstGeom>
          <a:ln>
            <a:solidFill>
              <a:schemeClr val="accent3"/>
            </a:solidFill>
          </a:ln>
        </p:spPr>
      </p:pic>
    </p:spTree>
    <p:extLst>
      <p:ext uri="{BB962C8B-B14F-4D97-AF65-F5344CB8AC3E}">
        <p14:creationId xmlns:p14="http://schemas.microsoft.com/office/powerpoint/2010/main" val="625763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F4943-D90F-47CD-BA2B-455E2887A564}"/>
              </a:ext>
            </a:extLst>
          </p:cNvPr>
          <p:cNvSpPr>
            <a:spLocks noGrp="1"/>
          </p:cNvSpPr>
          <p:nvPr>
            <p:ph type="title"/>
          </p:nvPr>
        </p:nvSpPr>
        <p:spPr/>
        <p:txBody>
          <a:bodyPr/>
          <a:lstStyle/>
          <a:p>
            <a:r>
              <a:rPr lang="en-US" dirty="0"/>
              <a:t>LITERATURE SURVEY</a:t>
            </a:r>
          </a:p>
        </p:txBody>
      </p:sp>
      <p:sp>
        <p:nvSpPr>
          <p:cNvPr id="3" name="Content Placeholder 2">
            <a:extLst>
              <a:ext uri="{FF2B5EF4-FFF2-40B4-BE49-F238E27FC236}">
                <a16:creationId xmlns:a16="http://schemas.microsoft.com/office/drawing/2014/main" id="{F9796F24-9DD8-4A75-9C3A-AE1AEAA8A5CD}"/>
              </a:ext>
            </a:extLst>
          </p:cNvPr>
          <p:cNvSpPr>
            <a:spLocks noGrp="1"/>
          </p:cNvSpPr>
          <p:nvPr>
            <p:ph idx="1"/>
          </p:nvPr>
        </p:nvSpPr>
        <p:spPr>
          <a:xfrm>
            <a:off x="438150" y="2390775"/>
            <a:ext cx="11296650" cy="4352925"/>
          </a:xfrm>
        </p:spPr>
        <p:txBody>
          <a:bodyPr>
            <a:normAutofit/>
          </a:bodyPr>
          <a:lstStyle/>
          <a:p>
            <a:pPr>
              <a:buFont typeface="Wingdings" panose="05000000000000000000" pitchFamily="2" charset="2"/>
              <a:buChar char="v"/>
            </a:pPr>
            <a:r>
              <a:rPr lang="en-US" sz="2000" b="1" dirty="0">
                <a:solidFill>
                  <a:schemeClr val="tx1"/>
                </a:solidFill>
                <a:latin typeface="Agency FB" panose="020B0503020202020204" pitchFamily="34" charset="0"/>
              </a:rPr>
              <a:t>Study of </a:t>
            </a:r>
            <a:r>
              <a:rPr lang="en-US" sz="2000" b="1" i="0" u="none" strike="noStrike" baseline="0" dirty="0">
                <a:solidFill>
                  <a:srgbClr val="353744"/>
                </a:solidFill>
                <a:latin typeface="Agency FB" panose="020B0503020202020204" pitchFamily="34" charset="0"/>
              </a:rPr>
              <a:t>greenhouse gas emission </a:t>
            </a:r>
            <a:r>
              <a:rPr lang="en-US" sz="2000" b="1" dirty="0">
                <a:solidFill>
                  <a:srgbClr val="353744"/>
                </a:solidFill>
                <a:latin typeface="Agency FB" panose="020B0503020202020204" pitchFamily="34" charset="0"/>
              </a:rPr>
              <a:t>which</a:t>
            </a:r>
            <a:r>
              <a:rPr lang="en-US" sz="2000" b="1" i="0" u="none" strike="noStrike" baseline="0" dirty="0">
                <a:solidFill>
                  <a:srgbClr val="353744"/>
                </a:solidFill>
                <a:latin typeface="Agency FB" panose="020B0503020202020204" pitchFamily="34" charset="0"/>
              </a:rPr>
              <a:t> mostly rely on energy used by fossil fuel for the features like Energy use kg of oil equivalent per capita, Fossil fuel energy consumption pct of total etc. ,accordingly</a:t>
            </a:r>
            <a:r>
              <a:rPr lang="en-US" sz="2000" b="1" dirty="0">
                <a:solidFill>
                  <a:srgbClr val="353744"/>
                </a:solidFill>
                <a:latin typeface="Agency FB" panose="020B0503020202020204" pitchFamily="34" charset="0"/>
              </a:rPr>
              <a:t> reducing those factors  by analyzing their behavior.</a:t>
            </a:r>
          </a:p>
          <a:p>
            <a:pPr marL="0" indent="0">
              <a:buNone/>
            </a:pPr>
            <a:endParaRPr lang="en-US" sz="2000" b="1" i="0" u="none" strike="noStrike" baseline="0" dirty="0">
              <a:solidFill>
                <a:srgbClr val="353744"/>
              </a:solidFill>
              <a:latin typeface="Agency FB" panose="020B0503020202020204" pitchFamily="34" charset="0"/>
            </a:endParaRPr>
          </a:p>
          <a:p>
            <a:pPr>
              <a:buFont typeface="Wingdings" panose="05000000000000000000" pitchFamily="2" charset="2"/>
              <a:buChar char="v"/>
            </a:pPr>
            <a:r>
              <a:rPr lang="en-US" sz="1800" b="0" i="0" u="none" strike="noStrike" baseline="0" dirty="0">
                <a:solidFill>
                  <a:srgbClr val="353744"/>
                </a:solidFill>
                <a:latin typeface="CIDFont+F2"/>
              </a:rPr>
              <a:t> </a:t>
            </a:r>
            <a:r>
              <a:rPr lang="en-US" sz="2000" b="1" i="0" u="none" strike="noStrike" baseline="0" dirty="0">
                <a:solidFill>
                  <a:srgbClr val="353744"/>
                </a:solidFill>
                <a:latin typeface="Agency FB" panose="020B0503020202020204" pitchFamily="34" charset="0"/>
              </a:rPr>
              <a:t>Boosting energy efficiency, green transportation, reviving renewable energy phasing out fossil fuel electricity, managing forests and agriculture exploring, nuclear energy developing and deploying new low carbon and zero carbon technology, ensuring sustainable development.</a:t>
            </a:r>
            <a:endParaRPr lang="en-US" sz="2000" b="1" dirty="0">
              <a:solidFill>
                <a:schemeClr val="tx1"/>
              </a:solidFill>
              <a:latin typeface="Agency FB" panose="020B0503020202020204" pitchFamily="34" charset="0"/>
            </a:endParaRPr>
          </a:p>
        </p:txBody>
      </p:sp>
      <p:pic>
        <p:nvPicPr>
          <p:cNvPr id="7" name="image3.png">
            <a:extLst>
              <a:ext uri="{FF2B5EF4-FFF2-40B4-BE49-F238E27FC236}">
                <a16:creationId xmlns:a16="http://schemas.microsoft.com/office/drawing/2014/main" id="{DF099E7B-8140-47E7-9A48-FCA5670E2957}"/>
              </a:ext>
            </a:extLst>
          </p:cNvPr>
          <p:cNvPicPr/>
          <p:nvPr/>
        </p:nvPicPr>
        <p:blipFill>
          <a:blip r:embed="rId2"/>
          <a:srcRect/>
          <a:stretch>
            <a:fillRect/>
          </a:stretch>
        </p:blipFill>
        <p:spPr>
          <a:xfrm>
            <a:off x="7620841" y="973668"/>
            <a:ext cx="2295525" cy="706964"/>
          </a:xfrm>
          <a:prstGeom prst="rect">
            <a:avLst/>
          </a:prstGeom>
          <a:ln>
            <a:solidFill>
              <a:schemeClr val="accent3"/>
            </a:solidFill>
          </a:ln>
        </p:spPr>
      </p:pic>
    </p:spTree>
    <p:extLst>
      <p:ext uri="{BB962C8B-B14F-4D97-AF65-F5344CB8AC3E}">
        <p14:creationId xmlns:p14="http://schemas.microsoft.com/office/powerpoint/2010/main" val="3633687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97A2A-C412-419A-ABDD-9FB3003349BD}"/>
              </a:ext>
            </a:extLst>
          </p:cNvPr>
          <p:cNvSpPr>
            <a:spLocks noGrp="1"/>
          </p:cNvSpPr>
          <p:nvPr>
            <p:ph type="title"/>
          </p:nvPr>
        </p:nvSpPr>
        <p:spPr/>
        <p:txBody>
          <a:bodyPr/>
          <a:lstStyle/>
          <a:p>
            <a:r>
              <a:rPr lang="en-US" sz="3200" dirty="0"/>
              <a:t>MODELLING APPROACH</a:t>
            </a:r>
          </a:p>
        </p:txBody>
      </p:sp>
      <p:sp>
        <p:nvSpPr>
          <p:cNvPr id="3" name="Content Placeholder 2">
            <a:extLst>
              <a:ext uri="{FF2B5EF4-FFF2-40B4-BE49-F238E27FC236}">
                <a16:creationId xmlns:a16="http://schemas.microsoft.com/office/drawing/2014/main" id="{F13BE7C8-46EB-48B3-9498-344A303B246E}"/>
              </a:ext>
            </a:extLst>
          </p:cNvPr>
          <p:cNvSpPr>
            <a:spLocks noGrp="1"/>
          </p:cNvSpPr>
          <p:nvPr>
            <p:ph idx="1"/>
          </p:nvPr>
        </p:nvSpPr>
        <p:spPr>
          <a:xfrm>
            <a:off x="1343820" y="2674674"/>
            <a:ext cx="10646521" cy="3375551"/>
          </a:xfrm>
        </p:spPr>
        <p:txBody>
          <a:bodyPr>
            <a:normAutofit/>
          </a:bodyPr>
          <a:lstStyle/>
          <a:p>
            <a:pPr marL="0" indent="0">
              <a:buNone/>
            </a:pPr>
            <a:endParaRPr lang="en-IN" sz="2000" b="1" spc="-5" dirty="0">
              <a:solidFill>
                <a:schemeClr val="tx1"/>
              </a:solidFill>
              <a:latin typeface="Agency FB" panose="020B0503020202020204" pitchFamily="34" charset="0"/>
              <a:ea typeface="Times New Roman" panose="02020603050405020304" pitchFamily="18" charset="0"/>
            </a:endParaRPr>
          </a:p>
          <a:p>
            <a:pPr marL="0" indent="0">
              <a:buNone/>
            </a:pPr>
            <a:endParaRPr lang="en-IN" sz="1800" spc="-5" dirty="0">
              <a:solidFill>
                <a:srgbClr val="292929"/>
              </a:solidFill>
              <a:effectLst/>
              <a:latin typeface="Proxima Nova"/>
              <a:ea typeface="Times New Roman" panose="02020603050405020304" pitchFamily="18" charset="0"/>
            </a:endParaRPr>
          </a:p>
          <a:p>
            <a:pPr>
              <a:buFont typeface="Wingdings" panose="05000000000000000000" pitchFamily="2" charset="2"/>
              <a:buChar char="v"/>
            </a:pPr>
            <a:endParaRPr lang="en-IN" sz="1800" spc="-5" dirty="0">
              <a:solidFill>
                <a:srgbClr val="292929"/>
              </a:solidFill>
              <a:effectLst/>
              <a:latin typeface="Proxima Nova"/>
              <a:ea typeface="Times New Roman" panose="02020603050405020304" pitchFamily="18" charset="0"/>
            </a:endParaRPr>
          </a:p>
          <a:p>
            <a:pPr>
              <a:buFont typeface="Wingdings" panose="05000000000000000000" pitchFamily="2" charset="2"/>
              <a:buChar char="v"/>
            </a:pPr>
            <a:endParaRPr lang="en-IN" sz="1800" spc="-5" dirty="0">
              <a:solidFill>
                <a:srgbClr val="292929"/>
              </a:solidFill>
              <a:effectLst/>
              <a:latin typeface="Proxima Nova"/>
              <a:ea typeface="Times New Roman" panose="02020603050405020304" pitchFamily="18" charset="0"/>
            </a:endParaRPr>
          </a:p>
          <a:p>
            <a:pPr>
              <a:buFont typeface="Wingdings" panose="05000000000000000000" pitchFamily="2" charset="2"/>
              <a:buChar char="v"/>
            </a:pPr>
            <a:endParaRPr lang="en-US" sz="1800" dirty="0">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v"/>
            </a:pPr>
            <a:endParaRPr lang="en-US" dirty="0"/>
          </a:p>
        </p:txBody>
      </p:sp>
      <p:sp>
        <p:nvSpPr>
          <p:cNvPr id="8" name="Arrow: Right 7">
            <a:extLst>
              <a:ext uri="{FF2B5EF4-FFF2-40B4-BE49-F238E27FC236}">
                <a16:creationId xmlns:a16="http://schemas.microsoft.com/office/drawing/2014/main" id="{7FD9DA93-3540-49C8-92FE-F5F54A849382}"/>
              </a:ext>
            </a:extLst>
          </p:cNvPr>
          <p:cNvSpPr/>
          <p:nvPr/>
        </p:nvSpPr>
        <p:spPr>
          <a:xfrm>
            <a:off x="2494749" y="2478887"/>
            <a:ext cx="602410" cy="2801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18" name="Arrow: Down 17">
            <a:extLst>
              <a:ext uri="{FF2B5EF4-FFF2-40B4-BE49-F238E27FC236}">
                <a16:creationId xmlns:a16="http://schemas.microsoft.com/office/drawing/2014/main" id="{2885C167-2F89-449E-AE62-B640DCEE736A}"/>
              </a:ext>
            </a:extLst>
          </p:cNvPr>
          <p:cNvSpPr/>
          <p:nvPr/>
        </p:nvSpPr>
        <p:spPr>
          <a:xfrm>
            <a:off x="9992956" y="3150824"/>
            <a:ext cx="255239" cy="5686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A31BE09-C82E-41CB-8E2C-8FA19FBCF929}"/>
              </a:ext>
            </a:extLst>
          </p:cNvPr>
          <p:cNvSpPr/>
          <p:nvPr/>
        </p:nvSpPr>
        <p:spPr>
          <a:xfrm>
            <a:off x="377032" y="2321192"/>
            <a:ext cx="1933575" cy="7069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Agency FB" panose="020B0503020202020204" pitchFamily="34" charset="0"/>
              </a:rPr>
              <a:t>DATA COLLECTION</a:t>
            </a:r>
            <a:endParaRPr lang="en-US" dirty="0"/>
          </a:p>
        </p:txBody>
      </p:sp>
      <p:sp>
        <p:nvSpPr>
          <p:cNvPr id="23" name="Oval 22">
            <a:extLst>
              <a:ext uri="{FF2B5EF4-FFF2-40B4-BE49-F238E27FC236}">
                <a16:creationId xmlns:a16="http://schemas.microsoft.com/office/drawing/2014/main" id="{54B94C17-AED1-43B0-91BC-E84972CB2F64}"/>
              </a:ext>
            </a:extLst>
          </p:cNvPr>
          <p:cNvSpPr/>
          <p:nvPr/>
        </p:nvSpPr>
        <p:spPr>
          <a:xfrm>
            <a:off x="9241742" y="5757363"/>
            <a:ext cx="2034511" cy="6297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IN" sz="1800" b="1" spc="-5" dirty="0">
                <a:solidFill>
                  <a:schemeClr val="tx1"/>
                </a:solidFill>
                <a:effectLst/>
                <a:latin typeface="Agency FB" panose="020B0503020202020204" pitchFamily="34" charset="0"/>
                <a:ea typeface="Times New Roman" panose="02020603050405020304" pitchFamily="18" charset="0"/>
              </a:rPr>
              <a:t>CLUSTERING</a:t>
            </a:r>
          </a:p>
        </p:txBody>
      </p:sp>
      <p:sp>
        <p:nvSpPr>
          <p:cNvPr id="24" name="Oval 23">
            <a:extLst>
              <a:ext uri="{FF2B5EF4-FFF2-40B4-BE49-F238E27FC236}">
                <a16:creationId xmlns:a16="http://schemas.microsoft.com/office/drawing/2014/main" id="{B7CA0338-350D-4539-ABF4-BE08B05E0F4C}"/>
              </a:ext>
            </a:extLst>
          </p:cNvPr>
          <p:cNvSpPr/>
          <p:nvPr/>
        </p:nvSpPr>
        <p:spPr>
          <a:xfrm>
            <a:off x="51116" y="3993549"/>
            <a:ext cx="1933575" cy="7069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b="1" spc="-5" dirty="0">
                <a:solidFill>
                  <a:schemeClr val="tx1"/>
                </a:solidFill>
                <a:latin typeface="Agency FB" panose="020B0503020202020204" pitchFamily="34" charset="0"/>
                <a:ea typeface="Times New Roman" panose="02020603050405020304" pitchFamily="18" charset="0"/>
              </a:rPr>
              <a:t> </a:t>
            </a:r>
            <a:r>
              <a:rPr lang="en-IN" sz="1800" b="1" spc="-5" dirty="0">
                <a:solidFill>
                  <a:schemeClr val="tx1"/>
                </a:solidFill>
                <a:effectLst/>
                <a:latin typeface="Agency FB" panose="020B0503020202020204" pitchFamily="34" charset="0"/>
                <a:ea typeface="Times New Roman" panose="02020603050405020304" pitchFamily="18" charset="0"/>
              </a:rPr>
              <a:t>MODEL BUILDING </a:t>
            </a:r>
            <a:endParaRPr lang="en-US" dirty="0"/>
          </a:p>
        </p:txBody>
      </p:sp>
      <p:sp>
        <p:nvSpPr>
          <p:cNvPr id="25" name="Oval 24">
            <a:extLst>
              <a:ext uri="{FF2B5EF4-FFF2-40B4-BE49-F238E27FC236}">
                <a16:creationId xmlns:a16="http://schemas.microsoft.com/office/drawing/2014/main" id="{9D0B197A-1CD0-43C2-AF8B-75E6BA5C91C7}"/>
              </a:ext>
            </a:extLst>
          </p:cNvPr>
          <p:cNvSpPr/>
          <p:nvPr/>
        </p:nvSpPr>
        <p:spPr>
          <a:xfrm>
            <a:off x="43813" y="5696743"/>
            <a:ext cx="1933575" cy="7069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spc="-5" dirty="0">
                <a:solidFill>
                  <a:schemeClr val="tx1"/>
                </a:solidFill>
                <a:latin typeface="Agency FB" panose="020B0503020202020204" pitchFamily="34" charset="0"/>
                <a:ea typeface="Times New Roman" panose="02020603050405020304" pitchFamily="18" charset="0"/>
              </a:rPr>
              <a:t>HYPER-PARAMETER TUNING</a:t>
            </a:r>
            <a:endParaRPr lang="en-US" sz="1600" dirty="0"/>
          </a:p>
        </p:txBody>
      </p:sp>
      <p:sp>
        <p:nvSpPr>
          <p:cNvPr id="26" name="Oval 25">
            <a:extLst>
              <a:ext uri="{FF2B5EF4-FFF2-40B4-BE49-F238E27FC236}">
                <a16:creationId xmlns:a16="http://schemas.microsoft.com/office/drawing/2014/main" id="{9F3EB7B0-D9FE-4A67-BA5C-5D2287689973}"/>
              </a:ext>
            </a:extLst>
          </p:cNvPr>
          <p:cNvSpPr/>
          <p:nvPr/>
        </p:nvSpPr>
        <p:spPr>
          <a:xfrm>
            <a:off x="9221275" y="3890871"/>
            <a:ext cx="1933575" cy="7069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endParaRPr lang="en-IN" sz="1600" b="1" spc="-5" dirty="0">
              <a:solidFill>
                <a:schemeClr val="tx1"/>
              </a:solidFill>
              <a:latin typeface="Agency FB" panose="020B0503020202020204" pitchFamily="34" charset="0"/>
              <a:ea typeface="Times New Roman" panose="02020603050405020304" pitchFamily="18" charset="0"/>
            </a:endParaRPr>
          </a:p>
          <a:p>
            <a:pPr marL="0" indent="0">
              <a:buNone/>
            </a:pPr>
            <a:r>
              <a:rPr lang="en-IN" sz="1600" b="1" spc="-5" dirty="0">
                <a:solidFill>
                  <a:schemeClr val="tx1"/>
                </a:solidFill>
                <a:latin typeface="Agency FB" panose="020B0503020202020204" pitchFamily="34" charset="0"/>
                <a:ea typeface="Times New Roman" panose="02020603050405020304" pitchFamily="18" charset="0"/>
              </a:rPr>
              <a:t>			</a:t>
            </a:r>
          </a:p>
          <a:p>
            <a:pPr marL="0" indent="0">
              <a:buNone/>
            </a:pPr>
            <a:endParaRPr lang="en-IN" sz="1600" b="1" spc="-5" dirty="0">
              <a:solidFill>
                <a:schemeClr val="tx1"/>
              </a:solidFill>
              <a:latin typeface="Agency FB" panose="020B0503020202020204" pitchFamily="34" charset="0"/>
              <a:ea typeface="Times New Roman" panose="02020603050405020304" pitchFamily="18" charset="0"/>
            </a:endParaRPr>
          </a:p>
          <a:p>
            <a:pPr marL="0" indent="0">
              <a:buNone/>
            </a:pPr>
            <a:r>
              <a:rPr lang="en-IN" sz="1600" b="1" spc="-5" dirty="0">
                <a:solidFill>
                  <a:schemeClr val="tx1"/>
                </a:solidFill>
                <a:latin typeface="Agency FB" panose="020B0503020202020204" pitchFamily="34" charset="0"/>
                <a:ea typeface="Times New Roman" panose="02020603050405020304" pitchFamily="18" charset="0"/>
              </a:rPr>
              <a:t>         </a:t>
            </a:r>
            <a:r>
              <a:rPr lang="en-IN" sz="2000" b="1" spc="-5" dirty="0">
                <a:solidFill>
                  <a:schemeClr val="tx1"/>
                </a:solidFill>
                <a:latin typeface="Agency FB" panose="020B0503020202020204" pitchFamily="34" charset="0"/>
                <a:ea typeface="Times New Roman" panose="02020603050405020304" pitchFamily="18" charset="0"/>
              </a:rPr>
              <a:t>PCA	</a:t>
            </a:r>
            <a:r>
              <a:rPr lang="en-IN" sz="1600" b="1" spc="-5" dirty="0">
                <a:solidFill>
                  <a:schemeClr val="tx1"/>
                </a:solidFill>
                <a:latin typeface="Agency FB" panose="020B0503020202020204" pitchFamily="34" charset="0"/>
                <a:ea typeface="Times New Roman" panose="02020603050405020304" pitchFamily="18" charset="0"/>
              </a:rPr>
              <a:t>									</a:t>
            </a:r>
            <a:endParaRPr lang="en-US" sz="1600" dirty="0"/>
          </a:p>
        </p:txBody>
      </p:sp>
      <p:sp>
        <p:nvSpPr>
          <p:cNvPr id="27" name="Oval 26">
            <a:extLst>
              <a:ext uri="{FF2B5EF4-FFF2-40B4-BE49-F238E27FC236}">
                <a16:creationId xmlns:a16="http://schemas.microsoft.com/office/drawing/2014/main" id="{0279B1BD-2DDD-4CBE-B1F9-4BE9A307D081}"/>
              </a:ext>
            </a:extLst>
          </p:cNvPr>
          <p:cNvSpPr/>
          <p:nvPr/>
        </p:nvSpPr>
        <p:spPr>
          <a:xfrm>
            <a:off x="9076975" y="2265499"/>
            <a:ext cx="1933575" cy="7069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spc="-5" dirty="0">
                <a:solidFill>
                  <a:schemeClr val="tx1"/>
                </a:solidFill>
                <a:effectLst/>
                <a:latin typeface="Agency FB" panose="020B0503020202020204" pitchFamily="34" charset="0"/>
                <a:ea typeface="Times New Roman" panose="02020603050405020304" pitchFamily="18" charset="0"/>
              </a:rPr>
              <a:t>EXPORATORY DATA ANALYSIS</a:t>
            </a:r>
            <a:endParaRPr lang="en-US" sz="1600" dirty="0"/>
          </a:p>
        </p:txBody>
      </p:sp>
      <p:sp>
        <p:nvSpPr>
          <p:cNvPr id="28" name="Oval 27">
            <a:extLst>
              <a:ext uri="{FF2B5EF4-FFF2-40B4-BE49-F238E27FC236}">
                <a16:creationId xmlns:a16="http://schemas.microsoft.com/office/drawing/2014/main" id="{738CA6E6-088F-441C-A526-F637A2DB6A10}"/>
              </a:ext>
            </a:extLst>
          </p:cNvPr>
          <p:cNvSpPr/>
          <p:nvPr/>
        </p:nvSpPr>
        <p:spPr>
          <a:xfrm>
            <a:off x="6177758" y="2265499"/>
            <a:ext cx="1933575" cy="7069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Agency FB" panose="020B0503020202020204" pitchFamily="34" charset="0"/>
              </a:rPr>
              <a:t>DATA UNDERSTANDING</a:t>
            </a:r>
            <a:endParaRPr lang="en-US" sz="1600" dirty="0"/>
          </a:p>
        </p:txBody>
      </p:sp>
      <p:sp>
        <p:nvSpPr>
          <p:cNvPr id="29" name="Oval 28">
            <a:extLst>
              <a:ext uri="{FF2B5EF4-FFF2-40B4-BE49-F238E27FC236}">
                <a16:creationId xmlns:a16="http://schemas.microsoft.com/office/drawing/2014/main" id="{76959A96-928E-4440-A566-73A67CAEC64F}"/>
              </a:ext>
            </a:extLst>
          </p:cNvPr>
          <p:cNvSpPr/>
          <p:nvPr/>
        </p:nvSpPr>
        <p:spPr>
          <a:xfrm>
            <a:off x="3278047" y="2265499"/>
            <a:ext cx="1933575" cy="7069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Agency FB" panose="020B0503020202020204" pitchFamily="34" charset="0"/>
              </a:rPr>
              <a:t>PROBLEM UNDERSTANDING</a:t>
            </a:r>
            <a:endParaRPr lang="en-US" sz="1600" dirty="0"/>
          </a:p>
        </p:txBody>
      </p:sp>
      <p:sp>
        <p:nvSpPr>
          <p:cNvPr id="33" name="Oval 32">
            <a:extLst>
              <a:ext uri="{FF2B5EF4-FFF2-40B4-BE49-F238E27FC236}">
                <a16:creationId xmlns:a16="http://schemas.microsoft.com/office/drawing/2014/main" id="{37B0FE73-D77A-4365-8B2B-549F163A8F8E}"/>
              </a:ext>
            </a:extLst>
          </p:cNvPr>
          <p:cNvSpPr/>
          <p:nvPr/>
        </p:nvSpPr>
        <p:spPr>
          <a:xfrm>
            <a:off x="6329584" y="5771673"/>
            <a:ext cx="1933575" cy="7069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Agency FB" panose="020B0503020202020204" pitchFamily="34" charset="0"/>
              </a:rPr>
              <a:t>BASE MODEL BUILDING</a:t>
            </a:r>
          </a:p>
        </p:txBody>
      </p:sp>
      <p:sp>
        <p:nvSpPr>
          <p:cNvPr id="35" name="Arrow: Left 34">
            <a:extLst>
              <a:ext uri="{FF2B5EF4-FFF2-40B4-BE49-F238E27FC236}">
                <a16:creationId xmlns:a16="http://schemas.microsoft.com/office/drawing/2014/main" id="{8D89CD6C-E6F2-4853-8F96-D3EF1F7AC6F5}"/>
              </a:ext>
            </a:extLst>
          </p:cNvPr>
          <p:cNvSpPr/>
          <p:nvPr/>
        </p:nvSpPr>
        <p:spPr>
          <a:xfrm>
            <a:off x="5474539" y="5919896"/>
            <a:ext cx="569093" cy="280189"/>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Arrow: Left 36">
            <a:extLst>
              <a:ext uri="{FF2B5EF4-FFF2-40B4-BE49-F238E27FC236}">
                <a16:creationId xmlns:a16="http://schemas.microsoft.com/office/drawing/2014/main" id="{AE04067E-6589-45F0-A02E-AB93D5DAC134}"/>
              </a:ext>
            </a:extLst>
          </p:cNvPr>
          <p:cNvSpPr/>
          <p:nvPr/>
        </p:nvSpPr>
        <p:spPr>
          <a:xfrm>
            <a:off x="2095881" y="6015315"/>
            <a:ext cx="557790" cy="26971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Arrow: Right 38">
            <a:extLst>
              <a:ext uri="{FF2B5EF4-FFF2-40B4-BE49-F238E27FC236}">
                <a16:creationId xmlns:a16="http://schemas.microsoft.com/office/drawing/2014/main" id="{9D29B84D-9EF3-47CB-8661-87A1467C6382}"/>
              </a:ext>
            </a:extLst>
          </p:cNvPr>
          <p:cNvSpPr/>
          <p:nvPr/>
        </p:nvSpPr>
        <p:spPr>
          <a:xfrm>
            <a:off x="5393732" y="2478887"/>
            <a:ext cx="602410" cy="2801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40" name="Arrow: Right 39">
            <a:extLst>
              <a:ext uri="{FF2B5EF4-FFF2-40B4-BE49-F238E27FC236}">
                <a16:creationId xmlns:a16="http://schemas.microsoft.com/office/drawing/2014/main" id="{C853C175-24EF-464B-A5A1-DA441ACCCAB2}"/>
              </a:ext>
            </a:extLst>
          </p:cNvPr>
          <p:cNvSpPr/>
          <p:nvPr/>
        </p:nvSpPr>
        <p:spPr>
          <a:xfrm>
            <a:off x="8292949" y="2478887"/>
            <a:ext cx="602410" cy="2801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41" name="Arrow: Down 40">
            <a:extLst>
              <a:ext uri="{FF2B5EF4-FFF2-40B4-BE49-F238E27FC236}">
                <a16:creationId xmlns:a16="http://schemas.microsoft.com/office/drawing/2014/main" id="{0056BAF4-E6D0-4898-B8F6-27B1E1278A1C}"/>
              </a:ext>
            </a:extLst>
          </p:cNvPr>
          <p:cNvSpPr/>
          <p:nvPr/>
        </p:nvSpPr>
        <p:spPr>
          <a:xfrm>
            <a:off x="9992956" y="4774576"/>
            <a:ext cx="255239" cy="5686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Arrow: Down 42">
            <a:extLst>
              <a:ext uri="{FF2B5EF4-FFF2-40B4-BE49-F238E27FC236}">
                <a16:creationId xmlns:a16="http://schemas.microsoft.com/office/drawing/2014/main" id="{9C3FBFE6-00BC-40A2-A6D4-1E157AADDBB2}"/>
              </a:ext>
            </a:extLst>
          </p:cNvPr>
          <p:cNvSpPr/>
          <p:nvPr/>
        </p:nvSpPr>
        <p:spPr>
          <a:xfrm>
            <a:off x="10006611" y="3150824"/>
            <a:ext cx="255239" cy="5686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C3079DA5-296A-493F-BB21-FA2D3E1DF412}"/>
              </a:ext>
            </a:extLst>
          </p:cNvPr>
          <p:cNvSpPr/>
          <p:nvPr/>
        </p:nvSpPr>
        <p:spPr>
          <a:xfrm>
            <a:off x="3008895" y="5810300"/>
            <a:ext cx="2110420" cy="6297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IN" sz="1800" b="1" spc="-5" dirty="0">
                <a:solidFill>
                  <a:schemeClr val="tx1"/>
                </a:solidFill>
                <a:effectLst/>
                <a:latin typeface="Agency FB" panose="020B0503020202020204" pitchFamily="34" charset="0"/>
                <a:ea typeface="Times New Roman" panose="02020603050405020304" pitchFamily="18" charset="0"/>
              </a:rPr>
              <a:t>    FEATURE ENGINEERING</a:t>
            </a:r>
          </a:p>
        </p:txBody>
      </p:sp>
      <p:sp>
        <p:nvSpPr>
          <p:cNvPr id="45" name="Oval 44">
            <a:extLst>
              <a:ext uri="{FF2B5EF4-FFF2-40B4-BE49-F238E27FC236}">
                <a16:creationId xmlns:a16="http://schemas.microsoft.com/office/drawing/2014/main" id="{6C2CC96A-6AA5-4C1F-8B2A-330071DFE18F}"/>
              </a:ext>
            </a:extLst>
          </p:cNvPr>
          <p:cNvSpPr/>
          <p:nvPr/>
        </p:nvSpPr>
        <p:spPr>
          <a:xfrm>
            <a:off x="9090630" y="2265499"/>
            <a:ext cx="1933575" cy="7069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spc="-5" dirty="0">
                <a:solidFill>
                  <a:schemeClr val="tx1"/>
                </a:solidFill>
                <a:effectLst/>
                <a:latin typeface="Agency FB" panose="020B0503020202020204" pitchFamily="34" charset="0"/>
                <a:ea typeface="Times New Roman" panose="02020603050405020304" pitchFamily="18" charset="0"/>
              </a:rPr>
              <a:t>EXPORATORY DATA ANALYSIS</a:t>
            </a:r>
            <a:endParaRPr lang="en-US" sz="1600" dirty="0"/>
          </a:p>
        </p:txBody>
      </p:sp>
      <p:sp>
        <p:nvSpPr>
          <p:cNvPr id="46" name="Arrow: Down 45">
            <a:extLst>
              <a:ext uri="{FF2B5EF4-FFF2-40B4-BE49-F238E27FC236}">
                <a16:creationId xmlns:a16="http://schemas.microsoft.com/office/drawing/2014/main" id="{5FA150E8-89E5-4AA0-9649-61B60FC3145C}"/>
              </a:ext>
            </a:extLst>
          </p:cNvPr>
          <p:cNvSpPr/>
          <p:nvPr/>
        </p:nvSpPr>
        <p:spPr>
          <a:xfrm>
            <a:off x="10006611" y="4774576"/>
            <a:ext cx="255239" cy="5686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image3.png">
            <a:extLst>
              <a:ext uri="{FF2B5EF4-FFF2-40B4-BE49-F238E27FC236}">
                <a16:creationId xmlns:a16="http://schemas.microsoft.com/office/drawing/2014/main" id="{03FABB37-8529-494A-AADE-90084FBDD135}"/>
              </a:ext>
            </a:extLst>
          </p:cNvPr>
          <p:cNvPicPr/>
          <p:nvPr/>
        </p:nvPicPr>
        <p:blipFill>
          <a:blip r:embed="rId2"/>
          <a:srcRect/>
          <a:stretch>
            <a:fillRect/>
          </a:stretch>
        </p:blipFill>
        <p:spPr>
          <a:xfrm>
            <a:off x="7666971" y="995922"/>
            <a:ext cx="2249395" cy="709993"/>
          </a:xfrm>
          <a:prstGeom prst="rect">
            <a:avLst/>
          </a:prstGeom>
          <a:ln>
            <a:solidFill>
              <a:schemeClr val="accent3"/>
            </a:solidFill>
          </a:ln>
        </p:spPr>
      </p:pic>
      <p:sp>
        <p:nvSpPr>
          <p:cNvPr id="31" name="Arrow: Left 30">
            <a:extLst>
              <a:ext uri="{FF2B5EF4-FFF2-40B4-BE49-F238E27FC236}">
                <a16:creationId xmlns:a16="http://schemas.microsoft.com/office/drawing/2014/main" id="{AFBD982C-D43F-4BF3-A1A2-6EDEB44CF152}"/>
              </a:ext>
            </a:extLst>
          </p:cNvPr>
          <p:cNvSpPr/>
          <p:nvPr/>
        </p:nvSpPr>
        <p:spPr>
          <a:xfrm>
            <a:off x="8549111" y="5964250"/>
            <a:ext cx="569093" cy="32881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Arrow: Left 35">
            <a:extLst>
              <a:ext uri="{FF2B5EF4-FFF2-40B4-BE49-F238E27FC236}">
                <a16:creationId xmlns:a16="http://schemas.microsoft.com/office/drawing/2014/main" id="{8ECF5FCA-5FB1-4B83-AD6D-152EE156A865}"/>
              </a:ext>
            </a:extLst>
          </p:cNvPr>
          <p:cNvSpPr/>
          <p:nvPr/>
        </p:nvSpPr>
        <p:spPr>
          <a:xfrm rot="5400000">
            <a:off x="714970" y="5082557"/>
            <a:ext cx="557790" cy="26971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76733577"/>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1000"/>
                                        <p:tgtEl>
                                          <p:spTgt spid="21"/>
                                        </p:tgtEl>
                                      </p:cBhvr>
                                    </p:animEffect>
                                    <p:anim calcmode="lin" valueType="num">
                                      <p:cBhvr>
                                        <p:cTn id="15" dur="1000" fill="hold"/>
                                        <p:tgtEl>
                                          <p:spTgt spid="21"/>
                                        </p:tgtEl>
                                        <p:attrNameLst>
                                          <p:attrName>ppt_x</p:attrName>
                                        </p:attrNameLst>
                                      </p:cBhvr>
                                      <p:tavLst>
                                        <p:tav tm="0">
                                          <p:val>
                                            <p:strVal val="#ppt_x"/>
                                          </p:val>
                                        </p:tav>
                                        <p:tav tm="100000">
                                          <p:val>
                                            <p:strVal val="#ppt_x"/>
                                          </p:val>
                                        </p:tav>
                                      </p:tavLst>
                                    </p:anim>
                                    <p:anim calcmode="lin" valueType="num">
                                      <p:cBhvr>
                                        <p:cTn id="16"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1000"/>
                                        <p:tgtEl>
                                          <p:spTgt spid="29"/>
                                        </p:tgtEl>
                                      </p:cBhvr>
                                    </p:animEffect>
                                    <p:anim calcmode="lin" valueType="num">
                                      <p:cBhvr>
                                        <p:cTn id="29" dur="1000" fill="hold"/>
                                        <p:tgtEl>
                                          <p:spTgt spid="29"/>
                                        </p:tgtEl>
                                        <p:attrNameLst>
                                          <p:attrName>ppt_x</p:attrName>
                                        </p:attrNameLst>
                                      </p:cBhvr>
                                      <p:tavLst>
                                        <p:tav tm="0">
                                          <p:val>
                                            <p:strVal val="#ppt_x"/>
                                          </p:val>
                                        </p:tav>
                                        <p:tav tm="100000">
                                          <p:val>
                                            <p:strVal val="#ppt_x"/>
                                          </p:val>
                                        </p:tav>
                                      </p:tavLst>
                                    </p:anim>
                                    <p:anim calcmode="lin" valueType="num">
                                      <p:cBhvr>
                                        <p:cTn id="30"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fade">
                                      <p:cBhvr>
                                        <p:cTn id="35" dur="1000"/>
                                        <p:tgtEl>
                                          <p:spTgt spid="39"/>
                                        </p:tgtEl>
                                      </p:cBhvr>
                                    </p:animEffect>
                                    <p:anim calcmode="lin" valueType="num">
                                      <p:cBhvr>
                                        <p:cTn id="36" dur="1000" fill="hold"/>
                                        <p:tgtEl>
                                          <p:spTgt spid="39"/>
                                        </p:tgtEl>
                                        <p:attrNameLst>
                                          <p:attrName>ppt_x</p:attrName>
                                        </p:attrNameLst>
                                      </p:cBhvr>
                                      <p:tavLst>
                                        <p:tav tm="0">
                                          <p:val>
                                            <p:strVal val="#ppt_x"/>
                                          </p:val>
                                        </p:tav>
                                        <p:tav tm="100000">
                                          <p:val>
                                            <p:strVal val="#ppt_x"/>
                                          </p:val>
                                        </p:tav>
                                      </p:tavLst>
                                    </p:anim>
                                    <p:anim calcmode="lin" valueType="num">
                                      <p:cBhvr>
                                        <p:cTn id="37"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1000"/>
                                        <p:tgtEl>
                                          <p:spTgt spid="28"/>
                                        </p:tgtEl>
                                      </p:cBhvr>
                                    </p:animEffect>
                                    <p:anim calcmode="lin" valueType="num">
                                      <p:cBhvr>
                                        <p:cTn id="43" dur="1000" fill="hold"/>
                                        <p:tgtEl>
                                          <p:spTgt spid="28"/>
                                        </p:tgtEl>
                                        <p:attrNameLst>
                                          <p:attrName>ppt_x</p:attrName>
                                        </p:attrNameLst>
                                      </p:cBhvr>
                                      <p:tavLst>
                                        <p:tav tm="0">
                                          <p:val>
                                            <p:strVal val="#ppt_x"/>
                                          </p:val>
                                        </p:tav>
                                        <p:tav tm="100000">
                                          <p:val>
                                            <p:strVal val="#ppt_x"/>
                                          </p:val>
                                        </p:tav>
                                      </p:tavLst>
                                    </p:anim>
                                    <p:anim calcmode="lin" valueType="num">
                                      <p:cBhvr>
                                        <p:cTn id="44"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fade">
                                      <p:cBhvr>
                                        <p:cTn id="49" dur="1000"/>
                                        <p:tgtEl>
                                          <p:spTgt spid="40"/>
                                        </p:tgtEl>
                                      </p:cBhvr>
                                    </p:animEffect>
                                    <p:anim calcmode="lin" valueType="num">
                                      <p:cBhvr>
                                        <p:cTn id="50" dur="1000" fill="hold"/>
                                        <p:tgtEl>
                                          <p:spTgt spid="40"/>
                                        </p:tgtEl>
                                        <p:attrNameLst>
                                          <p:attrName>ppt_x</p:attrName>
                                        </p:attrNameLst>
                                      </p:cBhvr>
                                      <p:tavLst>
                                        <p:tav tm="0">
                                          <p:val>
                                            <p:strVal val="#ppt_x"/>
                                          </p:val>
                                        </p:tav>
                                        <p:tav tm="100000">
                                          <p:val>
                                            <p:strVal val="#ppt_x"/>
                                          </p:val>
                                        </p:tav>
                                      </p:tavLst>
                                    </p:anim>
                                    <p:anim calcmode="lin" valueType="num">
                                      <p:cBhvr>
                                        <p:cTn id="51"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45"/>
                                        </p:tgtEl>
                                        <p:attrNameLst>
                                          <p:attrName>style.visibility</p:attrName>
                                        </p:attrNameLst>
                                      </p:cBhvr>
                                      <p:to>
                                        <p:strVal val="visible"/>
                                      </p:to>
                                    </p:set>
                                    <p:animEffect transition="in" filter="fade">
                                      <p:cBhvr>
                                        <p:cTn id="56" dur="1000"/>
                                        <p:tgtEl>
                                          <p:spTgt spid="45"/>
                                        </p:tgtEl>
                                      </p:cBhvr>
                                    </p:animEffect>
                                    <p:anim calcmode="lin" valueType="num">
                                      <p:cBhvr>
                                        <p:cTn id="57" dur="1000" fill="hold"/>
                                        <p:tgtEl>
                                          <p:spTgt spid="45"/>
                                        </p:tgtEl>
                                        <p:attrNameLst>
                                          <p:attrName>ppt_x</p:attrName>
                                        </p:attrNameLst>
                                      </p:cBhvr>
                                      <p:tavLst>
                                        <p:tav tm="0">
                                          <p:val>
                                            <p:strVal val="#ppt_x"/>
                                          </p:val>
                                        </p:tav>
                                        <p:tav tm="100000">
                                          <p:val>
                                            <p:strVal val="#ppt_x"/>
                                          </p:val>
                                        </p:tav>
                                      </p:tavLst>
                                    </p:anim>
                                    <p:anim calcmode="lin" valueType="num">
                                      <p:cBhvr>
                                        <p:cTn id="58"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43"/>
                                        </p:tgtEl>
                                        <p:attrNameLst>
                                          <p:attrName>style.visibility</p:attrName>
                                        </p:attrNameLst>
                                      </p:cBhvr>
                                      <p:to>
                                        <p:strVal val="visible"/>
                                      </p:to>
                                    </p:set>
                                    <p:animEffect transition="in" filter="fade">
                                      <p:cBhvr>
                                        <p:cTn id="63" dur="1000"/>
                                        <p:tgtEl>
                                          <p:spTgt spid="43"/>
                                        </p:tgtEl>
                                      </p:cBhvr>
                                    </p:animEffect>
                                    <p:anim calcmode="lin" valueType="num">
                                      <p:cBhvr>
                                        <p:cTn id="64" dur="1000" fill="hold"/>
                                        <p:tgtEl>
                                          <p:spTgt spid="43"/>
                                        </p:tgtEl>
                                        <p:attrNameLst>
                                          <p:attrName>ppt_x</p:attrName>
                                        </p:attrNameLst>
                                      </p:cBhvr>
                                      <p:tavLst>
                                        <p:tav tm="0">
                                          <p:val>
                                            <p:strVal val="#ppt_x"/>
                                          </p:val>
                                        </p:tav>
                                        <p:tav tm="100000">
                                          <p:val>
                                            <p:strVal val="#ppt_x"/>
                                          </p:val>
                                        </p:tav>
                                      </p:tavLst>
                                    </p:anim>
                                    <p:anim calcmode="lin" valueType="num">
                                      <p:cBhvr>
                                        <p:cTn id="65"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1000"/>
                                        <p:tgtEl>
                                          <p:spTgt spid="26"/>
                                        </p:tgtEl>
                                      </p:cBhvr>
                                    </p:animEffect>
                                    <p:anim calcmode="lin" valueType="num">
                                      <p:cBhvr>
                                        <p:cTn id="71" dur="1000" fill="hold"/>
                                        <p:tgtEl>
                                          <p:spTgt spid="26"/>
                                        </p:tgtEl>
                                        <p:attrNameLst>
                                          <p:attrName>ppt_x</p:attrName>
                                        </p:attrNameLst>
                                      </p:cBhvr>
                                      <p:tavLst>
                                        <p:tav tm="0">
                                          <p:val>
                                            <p:strVal val="#ppt_x"/>
                                          </p:val>
                                        </p:tav>
                                        <p:tav tm="100000">
                                          <p:val>
                                            <p:strVal val="#ppt_x"/>
                                          </p:val>
                                        </p:tav>
                                      </p:tavLst>
                                    </p:anim>
                                    <p:anim calcmode="lin" valueType="num">
                                      <p:cBhvr>
                                        <p:cTn id="72"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46"/>
                                        </p:tgtEl>
                                        <p:attrNameLst>
                                          <p:attrName>style.visibility</p:attrName>
                                        </p:attrNameLst>
                                      </p:cBhvr>
                                      <p:to>
                                        <p:strVal val="visible"/>
                                      </p:to>
                                    </p:set>
                                    <p:animEffect transition="in" filter="fade">
                                      <p:cBhvr>
                                        <p:cTn id="77" dur="1000"/>
                                        <p:tgtEl>
                                          <p:spTgt spid="46"/>
                                        </p:tgtEl>
                                      </p:cBhvr>
                                    </p:animEffect>
                                    <p:anim calcmode="lin" valueType="num">
                                      <p:cBhvr>
                                        <p:cTn id="78" dur="1000" fill="hold"/>
                                        <p:tgtEl>
                                          <p:spTgt spid="46"/>
                                        </p:tgtEl>
                                        <p:attrNameLst>
                                          <p:attrName>ppt_x</p:attrName>
                                        </p:attrNameLst>
                                      </p:cBhvr>
                                      <p:tavLst>
                                        <p:tav tm="0">
                                          <p:val>
                                            <p:strVal val="#ppt_x"/>
                                          </p:val>
                                        </p:tav>
                                        <p:tav tm="100000">
                                          <p:val>
                                            <p:strVal val="#ppt_x"/>
                                          </p:val>
                                        </p:tav>
                                      </p:tavLst>
                                    </p:anim>
                                    <p:anim calcmode="lin" valueType="num">
                                      <p:cBhvr>
                                        <p:cTn id="79"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3"/>
                                        </p:tgtEl>
                                        <p:attrNameLst>
                                          <p:attrName>style.visibility</p:attrName>
                                        </p:attrNameLst>
                                      </p:cBhvr>
                                      <p:to>
                                        <p:strVal val="visible"/>
                                      </p:to>
                                    </p:set>
                                    <p:animEffect transition="in" filter="fade">
                                      <p:cBhvr>
                                        <p:cTn id="84" dur="1000"/>
                                        <p:tgtEl>
                                          <p:spTgt spid="23"/>
                                        </p:tgtEl>
                                      </p:cBhvr>
                                    </p:animEffect>
                                    <p:anim calcmode="lin" valueType="num">
                                      <p:cBhvr>
                                        <p:cTn id="85" dur="1000" fill="hold"/>
                                        <p:tgtEl>
                                          <p:spTgt spid="23"/>
                                        </p:tgtEl>
                                        <p:attrNameLst>
                                          <p:attrName>ppt_x</p:attrName>
                                        </p:attrNameLst>
                                      </p:cBhvr>
                                      <p:tavLst>
                                        <p:tav tm="0">
                                          <p:val>
                                            <p:strVal val="#ppt_x"/>
                                          </p:val>
                                        </p:tav>
                                        <p:tav tm="100000">
                                          <p:val>
                                            <p:strVal val="#ppt_x"/>
                                          </p:val>
                                        </p:tav>
                                      </p:tavLst>
                                    </p:anim>
                                    <p:anim calcmode="lin" valueType="num">
                                      <p:cBhvr>
                                        <p:cTn id="86"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1000"/>
                                        <p:tgtEl>
                                          <p:spTgt spid="31"/>
                                        </p:tgtEl>
                                      </p:cBhvr>
                                    </p:animEffect>
                                    <p:anim calcmode="lin" valueType="num">
                                      <p:cBhvr>
                                        <p:cTn id="92" dur="1000" fill="hold"/>
                                        <p:tgtEl>
                                          <p:spTgt spid="31"/>
                                        </p:tgtEl>
                                        <p:attrNameLst>
                                          <p:attrName>ppt_x</p:attrName>
                                        </p:attrNameLst>
                                      </p:cBhvr>
                                      <p:tavLst>
                                        <p:tav tm="0">
                                          <p:val>
                                            <p:strVal val="#ppt_x"/>
                                          </p:val>
                                        </p:tav>
                                        <p:tav tm="100000">
                                          <p:val>
                                            <p:strVal val="#ppt_x"/>
                                          </p:val>
                                        </p:tav>
                                      </p:tavLst>
                                    </p:anim>
                                    <p:anim calcmode="lin" valueType="num">
                                      <p:cBhvr>
                                        <p:cTn id="93"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fade">
                                      <p:cBhvr>
                                        <p:cTn id="98" dur="1000"/>
                                        <p:tgtEl>
                                          <p:spTgt spid="33"/>
                                        </p:tgtEl>
                                      </p:cBhvr>
                                    </p:animEffect>
                                    <p:anim calcmode="lin" valueType="num">
                                      <p:cBhvr>
                                        <p:cTn id="99" dur="1000" fill="hold"/>
                                        <p:tgtEl>
                                          <p:spTgt spid="33"/>
                                        </p:tgtEl>
                                        <p:attrNameLst>
                                          <p:attrName>ppt_x</p:attrName>
                                        </p:attrNameLst>
                                      </p:cBhvr>
                                      <p:tavLst>
                                        <p:tav tm="0">
                                          <p:val>
                                            <p:strVal val="#ppt_x"/>
                                          </p:val>
                                        </p:tav>
                                        <p:tav tm="100000">
                                          <p:val>
                                            <p:strVal val="#ppt_x"/>
                                          </p:val>
                                        </p:tav>
                                      </p:tavLst>
                                    </p:anim>
                                    <p:anim calcmode="lin" valueType="num">
                                      <p:cBhvr>
                                        <p:cTn id="100"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5" dur="1000"/>
                                        <p:tgtEl>
                                          <p:spTgt spid="35"/>
                                        </p:tgtEl>
                                      </p:cBhvr>
                                    </p:animEffect>
                                    <p:anim calcmode="lin" valueType="num">
                                      <p:cBhvr>
                                        <p:cTn id="106" dur="1000" fill="hold"/>
                                        <p:tgtEl>
                                          <p:spTgt spid="35"/>
                                        </p:tgtEl>
                                        <p:attrNameLst>
                                          <p:attrName>ppt_x</p:attrName>
                                        </p:attrNameLst>
                                      </p:cBhvr>
                                      <p:tavLst>
                                        <p:tav tm="0">
                                          <p:val>
                                            <p:strVal val="#ppt_x"/>
                                          </p:val>
                                        </p:tav>
                                        <p:tav tm="100000">
                                          <p:val>
                                            <p:strVal val="#ppt_x"/>
                                          </p:val>
                                        </p:tav>
                                      </p:tavLst>
                                    </p:anim>
                                    <p:anim calcmode="lin" valueType="num">
                                      <p:cBhvr>
                                        <p:cTn id="107"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44"/>
                                        </p:tgtEl>
                                        <p:attrNameLst>
                                          <p:attrName>style.visibility</p:attrName>
                                        </p:attrNameLst>
                                      </p:cBhvr>
                                      <p:to>
                                        <p:strVal val="visible"/>
                                      </p:to>
                                    </p:set>
                                    <p:animEffect transition="in" filter="fade">
                                      <p:cBhvr>
                                        <p:cTn id="112" dur="1000"/>
                                        <p:tgtEl>
                                          <p:spTgt spid="44"/>
                                        </p:tgtEl>
                                      </p:cBhvr>
                                    </p:animEffect>
                                    <p:anim calcmode="lin" valueType="num">
                                      <p:cBhvr>
                                        <p:cTn id="113" dur="1000" fill="hold"/>
                                        <p:tgtEl>
                                          <p:spTgt spid="44"/>
                                        </p:tgtEl>
                                        <p:attrNameLst>
                                          <p:attrName>ppt_x</p:attrName>
                                        </p:attrNameLst>
                                      </p:cBhvr>
                                      <p:tavLst>
                                        <p:tav tm="0">
                                          <p:val>
                                            <p:strVal val="#ppt_x"/>
                                          </p:val>
                                        </p:tav>
                                        <p:tav tm="100000">
                                          <p:val>
                                            <p:strVal val="#ppt_x"/>
                                          </p:val>
                                        </p:tav>
                                      </p:tavLst>
                                    </p:anim>
                                    <p:anim calcmode="lin" valueType="num">
                                      <p:cBhvr>
                                        <p:cTn id="114"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37"/>
                                        </p:tgtEl>
                                        <p:attrNameLst>
                                          <p:attrName>style.visibility</p:attrName>
                                        </p:attrNameLst>
                                      </p:cBhvr>
                                      <p:to>
                                        <p:strVal val="visible"/>
                                      </p:to>
                                    </p:set>
                                    <p:animEffect transition="in" filter="fade">
                                      <p:cBhvr>
                                        <p:cTn id="119" dur="1000"/>
                                        <p:tgtEl>
                                          <p:spTgt spid="37"/>
                                        </p:tgtEl>
                                      </p:cBhvr>
                                    </p:animEffect>
                                    <p:anim calcmode="lin" valueType="num">
                                      <p:cBhvr>
                                        <p:cTn id="120" dur="1000" fill="hold"/>
                                        <p:tgtEl>
                                          <p:spTgt spid="37"/>
                                        </p:tgtEl>
                                        <p:attrNameLst>
                                          <p:attrName>ppt_x</p:attrName>
                                        </p:attrNameLst>
                                      </p:cBhvr>
                                      <p:tavLst>
                                        <p:tav tm="0">
                                          <p:val>
                                            <p:strVal val="#ppt_x"/>
                                          </p:val>
                                        </p:tav>
                                        <p:tav tm="100000">
                                          <p:val>
                                            <p:strVal val="#ppt_x"/>
                                          </p:val>
                                        </p:tav>
                                      </p:tavLst>
                                    </p:anim>
                                    <p:anim calcmode="lin" valueType="num">
                                      <p:cBhvr>
                                        <p:cTn id="121"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grpId="0" nodeType="clickEffect">
                                  <p:stCondLst>
                                    <p:cond delay="0"/>
                                  </p:stCondLst>
                                  <p:childTnLst>
                                    <p:set>
                                      <p:cBhvr>
                                        <p:cTn id="125" dur="1" fill="hold">
                                          <p:stCondLst>
                                            <p:cond delay="0"/>
                                          </p:stCondLst>
                                        </p:cTn>
                                        <p:tgtEl>
                                          <p:spTgt spid="25"/>
                                        </p:tgtEl>
                                        <p:attrNameLst>
                                          <p:attrName>style.visibility</p:attrName>
                                        </p:attrNameLst>
                                      </p:cBhvr>
                                      <p:to>
                                        <p:strVal val="visible"/>
                                      </p:to>
                                    </p:set>
                                    <p:animEffect transition="in" filter="fade">
                                      <p:cBhvr>
                                        <p:cTn id="126" dur="1000"/>
                                        <p:tgtEl>
                                          <p:spTgt spid="25"/>
                                        </p:tgtEl>
                                      </p:cBhvr>
                                    </p:animEffect>
                                    <p:anim calcmode="lin" valueType="num">
                                      <p:cBhvr>
                                        <p:cTn id="127" dur="1000" fill="hold"/>
                                        <p:tgtEl>
                                          <p:spTgt spid="25"/>
                                        </p:tgtEl>
                                        <p:attrNameLst>
                                          <p:attrName>ppt_x</p:attrName>
                                        </p:attrNameLst>
                                      </p:cBhvr>
                                      <p:tavLst>
                                        <p:tav tm="0">
                                          <p:val>
                                            <p:strVal val="#ppt_x"/>
                                          </p:val>
                                        </p:tav>
                                        <p:tav tm="100000">
                                          <p:val>
                                            <p:strVal val="#ppt_x"/>
                                          </p:val>
                                        </p:tav>
                                      </p:tavLst>
                                    </p:anim>
                                    <p:anim calcmode="lin" valueType="num">
                                      <p:cBhvr>
                                        <p:cTn id="128"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grpId="0" nodeType="clickEffect">
                                  <p:stCondLst>
                                    <p:cond delay="0"/>
                                  </p:stCondLst>
                                  <p:childTnLst>
                                    <p:set>
                                      <p:cBhvr>
                                        <p:cTn id="132" dur="1" fill="hold">
                                          <p:stCondLst>
                                            <p:cond delay="0"/>
                                          </p:stCondLst>
                                        </p:cTn>
                                        <p:tgtEl>
                                          <p:spTgt spid="36"/>
                                        </p:tgtEl>
                                        <p:attrNameLst>
                                          <p:attrName>style.visibility</p:attrName>
                                        </p:attrNameLst>
                                      </p:cBhvr>
                                      <p:to>
                                        <p:strVal val="visible"/>
                                      </p:to>
                                    </p:set>
                                    <p:animEffect transition="in" filter="fade">
                                      <p:cBhvr>
                                        <p:cTn id="133" dur="1000"/>
                                        <p:tgtEl>
                                          <p:spTgt spid="36"/>
                                        </p:tgtEl>
                                      </p:cBhvr>
                                    </p:animEffect>
                                    <p:anim calcmode="lin" valueType="num">
                                      <p:cBhvr>
                                        <p:cTn id="134" dur="1000" fill="hold"/>
                                        <p:tgtEl>
                                          <p:spTgt spid="36"/>
                                        </p:tgtEl>
                                        <p:attrNameLst>
                                          <p:attrName>ppt_x</p:attrName>
                                        </p:attrNameLst>
                                      </p:cBhvr>
                                      <p:tavLst>
                                        <p:tav tm="0">
                                          <p:val>
                                            <p:strVal val="#ppt_x"/>
                                          </p:val>
                                        </p:tav>
                                        <p:tav tm="100000">
                                          <p:val>
                                            <p:strVal val="#ppt_x"/>
                                          </p:val>
                                        </p:tav>
                                      </p:tavLst>
                                    </p:anim>
                                    <p:anim calcmode="lin" valueType="num">
                                      <p:cBhvr>
                                        <p:cTn id="135"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42" presetClass="entr" presetSubtype="0" fill="hold" grpId="0" nodeType="clickEffect">
                                  <p:stCondLst>
                                    <p:cond delay="0"/>
                                  </p:stCondLst>
                                  <p:childTnLst>
                                    <p:set>
                                      <p:cBhvr>
                                        <p:cTn id="139" dur="1" fill="hold">
                                          <p:stCondLst>
                                            <p:cond delay="0"/>
                                          </p:stCondLst>
                                        </p:cTn>
                                        <p:tgtEl>
                                          <p:spTgt spid="24"/>
                                        </p:tgtEl>
                                        <p:attrNameLst>
                                          <p:attrName>style.visibility</p:attrName>
                                        </p:attrNameLst>
                                      </p:cBhvr>
                                      <p:to>
                                        <p:strVal val="visible"/>
                                      </p:to>
                                    </p:set>
                                    <p:animEffect transition="in" filter="fade">
                                      <p:cBhvr>
                                        <p:cTn id="140" dur="1000"/>
                                        <p:tgtEl>
                                          <p:spTgt spid="24"/>
                                        </p:tgtEl>
                                      </p:cBhvr>
                                    </p:animEffect>
                                    <p:anim calcmode="lin" valueType="num">
                                      <p:cBhvr>
                                        <p:cTn id="141" dur="1000" fill="hold"/>
                                        <p:tgtEl>
                                          <p:spTgt spid="24"/>
                                        </p:tgtEl>
                                        <p:attrNameLst>
                                          <p:attrName>ppt_x</p:attrName>
                                        </p:attrNameLst>
                                      </p:cBhvr>
                                      <p:tavLst>
                                        <p:tav tm="0">
                                          <p:val>
                                            <p:strVal val="#ppt_x"/>
                                          </p:val>
                                        </p:tav>
                                        <p:tav tm="100000">
                                          <p:val>
                                            <p:strVal val="#ppt_x"/>
                                          </p:val>
                                        </p:tav>
                                      </p:tavLst>
                                    </p:anim>
                                    <p:anim calcmode="lin" valueType="num">
                                      <p:cBhvr>
                                        <p:cTn id="142"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animBg="1"/>
      <p:bldP spid="21" grpId="0" animBg="1"/>
      <p:bldP spid="23" grpId="0" animBg="1"/>
      <p:bldP spid="24" grpId="0" animBg="1"/>
      <p:bldP spid="25" grpId="0" animBg="1"/>
      <p:bldP spid="26" grpId="0" animBg="1"/>
      <p:bldP spid="28" grpId="0" animBg="1"/>
      <p:bldP spid="29" grpId="0" animBg="1"/>
      <p:bldP spid="33" grpId="0" animBg="1"/>
      <p:bldP spid="35" grpId="0" animBg="1"/>
      <p:bldP spid="37" grpId="0" animBg="1"/>
      <p:bldP spid="39" grpId="0" animBg="1"/>
      <p:bldP spid="40" grpId="0" animBg="1"/>
      <p:bldP spid="43" grpId="0" animBg="1"/>
      <p:bldP spid="44" grpId="0" animBg="1"/>
      <p:bldP spid="45" grpId="0" animBg="1"/>
      <p:bldP spid="46" grpId="0" animBg="1"/>
      <p:bldP spid="31" grpId="0" animBg="1"/>
      <p:bldP spid="3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6F135-E864-4790-96EC-0E4BBEBD9F8E}"/>
              </a:ext>
            </a:extLst>
          </p:cNvPr>
          <p:cNvSpPr>
            <a:spLocks noGrp="1"/>
          </p:cNvSpPr>
          <p:nvPr>
            <p:ph type="title"/>
          </p:nvPr>
        </p:nvSpPr>
        <p:spPr>
          <a:xfrm>
            <a:off x="1154952" y="735955"/>
            <a:ext cx="8979647" cy="1038416"/>
          </a:xfrm>
        </p:spPr>
        <p:txBody>
          <a:bodyPr/>
          <a:lstStyle/>
          <a:p>
            <a:r>
              <a:rPr lang="en-US" sz="3600" dirty="0"/>
              <a:t>MODELLING APPROACH</a:t>
            </a:r>
            <a:endParaRPr lang="en-US" dirty="0"/>
          </a:p>
        </p:txBody>
      </p:sp>
      <p:sp>
        <p:nvSpPr>
          <p:cNvPr id="3" name="Content Placeholder 2">
            <a:extLst>
              <a:ext uri="{FF2B5EF4-FFF2-40B4-BE49-F238E27FC236}">
                <a16:creationId xmlns:a16="http://schemas.microsoft.com/office/drawing/2014/main" id="{D156D219-F51A-4F39-ABE8-FB4AEA23D7B6}"/>
              </a:ext>
            </a:extLst>
          </p:cNvPr>
          <p:cNvSpPr>
            <a:spLocks noGrp="1"/>
          </p:cNvSpPr>
          <p:nvPr>
            <p:ph idx="1"/>
          </p:nvPr>
        </p:nvSpPr>
        <p:spPr>
          <a:xfrm>
            <a:off x="206829" y="2394857"/>
            <a:ext cx="11789228" cy="4376057"/>
          </a:xfrm>
          <a:solidFill>
            <a:schemeClr val="bg1"/>
          </a:solidFill>
        </p:spPr>
        <p:txBody>
          <a:bodyPr/>
          <a:lstStyle/>
          <a:p>
            <a:endParaRPr lang="en-US" dirty="0"/>
          </a:p>
          <a:p>
            <a:endParaRPr lang="en-US" dirty="0"/>
          </a:p>
        </p:txBody>
      </p:sp>
      <p:sp>
        <p:nvSpPr>
          <p:cNvPr id="7" name="Rectangle: Rounded Corners 6">
            <a:extLst>
              <a:ext uri="{FF2B5EF4-FFF2-40B4-BE49-F238E27FC236}">
                <a16:creationId xmlns:a16="http://schemas.microsoft.com/office/drawing/2014/main" id="{B71A2911-BD38-45B5-9D3C-21F9159CFD98}"/>
              </a:ext>
            </a:extLst>
          </p:cNvPr>
          <p:cNvSpPr/>
          <p:nvPr/>
        </p:nvSpPr>
        <p:spPr>
          <a:xfrm>
            <a:off x="533403" y="2173195"/>
            <a:ext cx="3022142" cy="1255805"/>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800" b="0" i="0" u="none" strike="noStrike" baseline="0" dirty="0">
                <a:latin typeface="Arial" panose="020B0604020202020204" pitchFamily="34" charset="0"/>
              </a:rPr>
              <a:t>•</a:t>
            </a:r>
            <a:r>
              <a:rPr lang="en-US" sz="1600" b="0" i="0" u="none" strike="noStrike" baseline="0" dirty="0">
                <a:latin typeface="Arial" panose="020B0604020202020204" pitchFamily="34" charset="0"/>
              </a:rPr>
              <a:t>C02emission</a:t>
            </a:r>
          </a:p>
          <a:p>
            <a:r>
              <a:rPr lang="en-US" sz="1600" b="0" i="0" u="none" strike="noStrike" baseline="0" dirty="0">
                <a:latin typeface="Arial" panose="020B0604020202020204" pitchFamily="34" charset="0"/>
              </a:rPr>
              <a:t>•Temperature</a:t>
            </a:r>
          </a:p>
          <a:p>
            <a:r>
              <a:rPr lang="en-US" sz="1600" b="0" i="0" u="none" strike="noStrike" baseline="0" dirty="0">
                <a:latin typeface="Arial" panose="020B0604020202020204" pitchFamily="34" charset="0"/>
              </a:rPr>
              <a:t>•Rainfall</a:t>
            </a:r>
          </a:p>
          <a:p>
            <a:r>
              <a:rPr lang="en-US" sz="1600" b="0" i="0" u="none" strike="noStrike" baseline="0" dirty="0">
                <a:latin typeface="Arial" panose="020B0604020202020204" pitchFamily="34" charset="0"/>
              </a:rPr>
              <a:t>•Socio economic factors</a:t>
            </a:r>
          </a:p>
          <a:p>
            <a:pPr algn="ctr"/>
            <a:endParaRPr lang="en-US" dirty="0"/>
          </a:p>
        </p:txBody>
      </p:sp>
      <p:sp>
        <p:nvSpPr>
          <p:cNvPr id="8" name="Rectangle: Rounded Corners 7">
            <a:extLst>
              <a:ext uri="{FF2B5EF4-FFF2-40B4-BE49-F238E27FC236}">
                <a16:creationId xmlns:a16="http://schemas.microsoft.com/office/drawing/2014/main" id="{1933AE6C-5E09-4757-ABE4-5323021124EF}"/>
              </a:ext>
            </a:extLst>
          </p:cNvPr>
          <p:cNvSpPr/>
          <p:nvPr/>
        </p:nvSpPr>
        <p:spPr>
          <a:xfrm>
            <a:off x="533403" y="3680385"/>
            <a:ext cx="3015343" cy="13315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l"/>
            <a:endParaRPr lang="en-US" sz="1800" b="0" i="0" u="none" strike="noStrike" baseline="0" dirty="0">
              <a:solidFill>
                <a:srgbClr val="000000"/>
              </a:solidFill>
              <a:latin typeface="Arial" panose="020B0604020202020204" pitchFamily="34" charset="0"/>
            </a:endParaRPr>
          </a:p>
          <a:p>
            <a:r>
              <a:rPr lang="en-US" sz="1800" b="0" i="0" u="none" strike="noStrike" baseline="0" dirty="0">
                <a:latin typeface="Arial" panose="020B0604020202020204" pitchFamily="34" charset="0"/>
              </a:rPr>
              <a:t>•</a:t>
            </a:r>
            <a:r>
              <a:rPr lang="en-US" sz="1600" b="0" i="0" u="none" strike="noStrike" baseline="0" dirty="0">
                <a:latin typeface="Arial" panose="020B0604020202020204" pitchFamily="34" charset="0"/>
              </a:rPr>
              <a:t>Data description</a:t>
            </a:r>
          </a:p>
          <a:p>
            <a:r>
              <a:rPr lang="en-US" sz="1600" b="0" i="0" u="none" strike="noStrike" baseline="0" dirty="0">
                <a:latin typeface="Arial" panose="020B0604020202020204" pitchFamily="34" charset="0"/>
              </a:rPr>
              <a:t>•Missing value         identification</a:t>
            </a:r>
          </a:p>
          <a:p>
            <a:r>
              <a:rPr lang="en-US" sz="1600" b="0" i="0" u="none" strike="noStrike" baseline="0" dirty="0">
                <a:latin typeface="Arial" panose="020B0604020202020204" pitchFamily="34" charset="0"/>
              </a:rPr>
              <a:t>•Data Cleaning</a:t>
            </a:r>
          </a:p>
          <a:p>
            <a:pPr algn="ctr"/>
            <a:endParaRPr lang="en-US" dirty="0"/>
          </a:p>
        </p:txBody>
      </p:sp>
      <p:sp>
        <p:nvSpPr>
          <p:cNvPr id="9" name="Rectangle: Rounded Corners 8">
            <a:extLst>
              <a:ext uri="{FF2B5EF4-FFF2-40B4-BE49-F238E27FC236}">
                <a16:creationId xmlns:a16="http://schemas.microsoft.com/office/drawing/2014/main" id="{324D59EF-AAB5-4D79-8649-50CEB10C2008}"/>
              </a:ext>
            </a:extLst>
          </p:cNvPr>
          <p:cNvSpPr/>
          <p:nvPr/>
        </p:nvSpPr>
        <p:spPr>
          <a:xfrm>
            <a:off x="533404" y="5317707"/>
            <a:ext cx="3015343" cy="1331537"/>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endParaRPr lang="en-US" sz="1800" b="0" i="0" u="none" strike="noStrike" baseline="0" dirty="0">
              <a:latin typeface="Arial" panose="020B0604020202020204" pitchFamily="34" charset="0"/>
            </a:endParaRPr>
          </a:p>
          <a:p>
            <a:r>
              <a:rPr lang="en-US" sz="1600" b="0" i="0" u="none" strike="noStrike" baseline="0" dirty="0">
                <a:latin typeface="Arial" panose="020B0604020202020204" pitchFamily="34" charset="0"/>
              </a:rPr>
              <a:t>Univariate &amp; bi-variate analysis</a:t>
            </a:r>
          </a:p>
          <a:p>
            <a:pPr algn="ctr"/>
            <a:endParaRPr lang="en-US" dirty="0"/>
          </a:p>
        </p:txBody>
      </p:sp>
      <p:sp>
        <p:nvSpPr>
          <p:cNvPr id="10" name="Rectangle: Rounded Corners 9">
            <a:extLst>
              <a:ext uri="{FF2B5EF4-FFF2-40B4-BE49-F238E27FC236}">
                <a16:creationId xmlns:a16="http://schemas.microsoft.com/office/drawing/2014/main" id="{978AE1F8-E997-4866-BAB2-C633F7C68E70}"/>
              </a:ext>
            </a:extLst>
          </p:cNvPr>
          <p:cNvSpPr/>
          <p:nvPr/>
        </p:nvSpPr>
        <p:spPr>
          <a:xfrm>
            <a:off x="8106116" y="2181517"/>
            <a:ext cx="3474587" cy="271262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l"/>
            <a:endParaRPr lang="en-US" sz="1800" b="0" i="0" u="none" strike="noStrike" baseline="0" dirty="0">
              <a:solidFill>
                <a:srgbClr val="000000"/>
              </a:solidFill>
              <a:latin typeface="Arial" panose="020B0604020202020204" pitchFamily="34" charset="0"/>
            </a:endParaRPr>
          </a:p>
          <a:p>
            <a:endParaRPr lang="en-US" sz="1800" b="0" i="0" u="none" strike="noStrike" baseline="0" dirty="0">
              <a:latin typeface="Arial" panose="020B0604020202020204" pitchFamily="34" charset="0"/>
            </a:endParaRPr>
          </a:p>
          <a:p>
            <a:pPr marL="285750" indent="-285750">
              <a:buFont typeface="Arial" panose="020B0604020202020204" pitchFamily="34" charset="0"/>
              <a:buChar char="•"/>
            </a:pPr>
            <a:r>
              <a:rPr lang="en-US" sz="1600" b="0" i="0" u="none" strike="noStrike" baseline="0" dirty="0">
                <a:latin typeface="Arial" panose="020B0604020202020204" pitchFamily="34" charset="0"/>
              </a:rPr>
              <a:t>Missing value treatment</a:t>
            </a:r>
          </a:p>
          <a:p>
            <a:pPr marL="285750" indent="-285750">
              <a:buFont typeface="Arial" panose="020B0604020202020204" pitchFamily="34" charset="0"/>
              <a:buChar char="•"/>
            </a:pPr>
            <a:r>
              <a:rPr lang="en-US" sz="1600" b="0" i="0" u="none" strike="noStrike" baseline="0" dirty="0">
                <a:latin typeface="Arial" panose="020B0604020202020204" pitchFamily="34" charset="0"/>
              </a:rPr>
              <a:t>Hypothesis testing</a:t>
            </a:r>
          </a:p>
          <a:p>
            <a:pPr marL="285750" indent="-285750">
              <a:buFont typeface="Arial" panose="020B0604020202020204" pitchFamily="34" charset="0"/>
              <a:buChar char="•"/>
            </a:pPr>
            <a:r>
              <a:rPr lang="en-US" sz="1600" b="0" i="0" u="none" strike="noStrike" baseline="0" dirty="0">
                <a:latin typeface="Arial" panose="020B0604020202020204" pitchFamily="34" charset="0"/>
              </a:rPr>
              <a:t>Data normalization</a:t>
            </a:r>
          </a:p>
          <a:p>
            <a:pPr marL="285750" indent="-285750">
              <a:buFont typeface="Arial" panose="020B0604020202020204" pitchFamily="34" charset="0"/>
              <a:buChar char="•"/>
            </a:pPr>
            <a:r>
              <a:rPr lang="en-US" sz="1600" b="0" i="0" u="none" strike="noStrike" baseline="0" dirty="0">
                <a:latin typeface="Arial" panose="020B0604020202020204" pitchFamily="34" charset="0"/>
              </a:rPr>
              <a:t>PCA</a:t>
            </a:r>
          </a:p>
          <a:p>
            <a:pPr marL="285750" indent="-285750">
              <a:buFont typeface="Arial" panose="020B0604020202020204" pitchFamily="34" charset="0"/>
              <a:buChar char="•"/>
            </a:pPr>
            <a:r>
              <a:rPr lang="en-US" sz="1600" b="0" i="0" u="none" strike="noStrike" baseline="0" dirty="0">
                <a:latin typeface="Arial" panose="020B0604020202020204" pitchFamily="34" charset="0"/>
              </a:rPr>
              <a:t>Factor analysis</a:t>
            </a:r>
          </a:p>
          <a:p>
            <a:pPr marL="285750" indent="-285750">
              <a:buFont typeface="Arial" panose="020B0604020202020204" pitchFamily="34" charset="0"/>
              <a:buChar char="•"/>
            </a:pPr>
            <a:r>
              <a:rPr lang="en-US" sz="1600" b="0" i="0" u="none" strike="noStrike" baseline="0" dirty="0">
                <a:latin typeface="Arial" panose="020B0604020202020204" pitchFamily="34" charset="0"/>
              </a:rPr>
              <a:t>Clustering</a:t>
            </a:r>
          </a:p>
          <a:p>
            <a:pPr marL="285750" indent="-285750">
              <a:buFont typeface="Arial" panose="020B0604020202020204" pitchFamily="34" charset="0"/>
              <a:buChar char="•"/>
            </a:pPr>
            <a:r>
              <a:rPr lang="en-US" sz="1600" b="0" i="0" u="none" strike="noStrike" baseline="0" dirty="0">
                <a:latin typeface="Arial" panose="020B0604020202020204" pitchFamily="34" charset="0"/>
              </a:rPr>
              <a:t>Random Forest</a:t>
            </a:r>
          </a:p>
          <a:p>
            <a:pPr marL="285750" indent="-285750">
              <a:buFont typeface="Arial" panose="020B0604020202020204" pitchFamily="34" charset="0"/>
              <a:buChar char="•"/>
            </a:pPr>
            <a:r>
              <a:rPr lang="en-US" sz="1600" b="0" i="0" u="none" strike="noStrike" baseline="0" dirty="0">
                <a:latin typeface="Arial" panose="020B0604020202020204" pitchFamily="34" charset="0"/>
              </a:rPr>
              <a:t>Ensemble methods</a:t>
            </a:r>
          </a:p>
          <a:p>
            <a:pPr marL="285750" indent="-285750">
              <a:buFont typeface="Arial" panose="020B0604020202020204" pitchFamily="34" charset="0"/>
              <a:buChar char="•"/>
            </a:pPr>
            <a:r>
              <a:rPr lang="en-US" sz="1600" b="0" i="0" u="none" strike="noStrike" baseline="0" dirty="0">
                <a:latin typeface="Arial" panose="020B0604020202020204" pitchFamily="34" charset="0"/>
              </a:rPr>
              <a:t>Time series forecasting</a:t>
            </a:r>
          </a:p>
          <a:p>
            <a:pPr algn="ctr"/>
            <a:endParaRPr lang="en-US" dirty="0"/>
          </a:p>
        </p:txBody>
      </p:sp>
      <p:sp>
        <p:nvSpPr>
          <p:cNvPr id="17" name="Oval 16">
            <a:extLst>
              <a:ext uri="{FF2B5EF4-FFF2-40B4-BE49-F238E27FC236}">
                <a16:creationId xmlns:a16="http://schemas.microsoft.com/office/drawing/2014/main" id="{F04DC5ED-279C-4927-BDBA-E61C0AC70E2E}"/>
              </a:ext>
            </a:extLst>
          </p:cNvPr>
          <p:cNvSpPr/>
          <p:nvPr/>
        </p:nvSpPr>
        <p:spPr>
          <a:xfrm>
            <a:off x="4449533" y="2281889"/>
            <a:ext cx="2359484" cy="103841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600" b="0" i="0" u="none" strike="noStrike" baseline="0" dirty="0">
                <a:latin typeface="Arial" panose="020B0604020202020204" pitchFamily="34" charset="0"/>
              </a:rPr>
              <a:t>       DATA COLLECTION </a:t>
            </a:r>
            <a:endParaRPr lang="en-US" sz="1600" dirty="0"/>
          </a:p>
        </p:txBody>
      </p:sp>
      <p:sp>
        <p:nvSpPr>
          <p:cNvPr id="31" name="Oval 30">
            <a:extLst>
              <a:ext uri="{FF2B5EF4-FFF2-40B4-BE49-F238E27FC236}">
                <a16:creationId xmlns:a16="http://schemas.microsoft.com/office/drawing/2014/main" id="{911A339C-448D-4CC4-8001-06F1137BF9A3}"/>
              </a:ext>
            </a:extLst>
          </p:cNvPr>
          <p:cNvSpPr/>
          <p:nvPr/>
        </p:nvSpPr>
        <p:spPr>
          <a:xfrm>
            <a:off x="8926286" y="5471019"/>
            <a:ext cx="2196199" cy="10123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600" b="0" i="0" u="none" strike="noStrike" baseline="0" dirty="0">
                <a:latin typeface="Arial" panose="020B0604020202020204" pitchFamily="34" charset="0"/>
              </a:rPr>
              <a:t>      DATA </a:t>
            </a:r>
          </a:p>
          <a:p>
            <a:r>
              <a:rPr lang="en-US" sz="1600" b="0" i="0" u="none" strike="noStrike" baseline="0" dirty="0">
                <a:latin typeface="Arial" panose="020B0604020202020204" pitchFamily="34" charset="0"/>
              </a:rPr>
              <a:t>     MINING </a:t>
            </a:r>
            <a:endParaRPr lang="en-US" sz="1600" dirty="0"/>
          </a:p>
        </p:txBody>
      </p:sp>
      <p:sp>
        <p:nvSpPr>
          <p:cNvPr id="32" name="Oval 31">
            <a:extLst>
              <a:ext uri="{FF2B5EF4-FFF2-40B4-BE49-F238E27FC236}">
                <a16:creationId xmlns:a16="http://schemas.microsoft.com/office/drawing/2014/main" id="{4F7AEEA1-9C4E-43BD-9330-846F094C1870}"/>
              </a:ext>
            </a:extLst>
          </p:cNvPr>
          <p:cNvSpPr/>
          <p:nvPr/>
        </p:nvSpPr>
        <p:spPr>
          <a:xfrm>
            <a:off x="4459058" y="5471019"/>
            <a:ext cx="2359484" cy="10123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800" b="0" i="0" u="none" strike="noStrike" baseline="0" dirty="0">
                <a:latin typeface="Arial" panose="020B0604020202020204" pitchFamily="34" charset="0"/>
              </a:rPr>
              <a:t>	</a:t>
            </a:r>
            <a:r>
              <a:rPr lang="en-US" sz="1600" b="0" i="0" u="none" strike="noStrike" baseline="0" dirty="0">
                <a:latin typeface="Arial" panose="020B0604020202020204" pitchFamily="34" charset="0"/>
              </a:rPr>
              <a:t>EDA</a:t>
            </a:r>
            <a:endParaRPr lang="en-US" sz="1600" dirty="0"/>
          </a:p>
        </p:txBody>
      </p:sp>
      <p:sp>
        <p:nvSpPr>
          <p:cNvPr id="33" name="Oval 32">
            <a:extLst>
              <a:ext uri="{FF2B5EF4-FFF2-40B4-BE49-F238E27FC236}">
                <a16:creationId xmlns:a16="http://schemas.microsoft.com/office/drawing/2014/main" id="{AA99BDDC-9613-4524-8B07-4065BEC898B4}"/>
              </a:ext>
            </a:extLst>
          </p:cNvPr>
          <p:cNvSpPr/>
          <p:nvPr/>
        </p:nvSpPr>
        <p:spPr>
          <a:xfrm>
            <a:off x="4073301" y="3797671"/>
            <a:ext cx="2762250" cy="88769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800" b="0" i="0" u="none" strike="noStrike" baseline="0" dirty="0">
                <a:latin typeface="Arial" panose="020B0604020202020204" pitchFamily="34" charset="0"/>
              </a:rPr>
              <a:t> 	</a:t>
            </a:r>
            <a:r>
              <a:rPr lang="en-US" sz="1600" b="0" i="0" u="none" strike="noStrike" baseline="0" dirty="0">
                <a:latin typeface="Arial" panose="020B0604020202020204" pitchFamily="34" charset="0"/>
              </a:rPr>
              <a:t>  DATA</a:t>
            </a:r>
          </a:p>
          <a:p>
            <a:r>
              <a:rPr lang="en-US" sz="1600" b="0" i="0" u="none" strike="noStrike" baseline="0" dirty="0">
                <a:latin typeface="Arial" panose="020B0604020202020204" pitchFamily="34" charset="0"/>
              </a:rPr>
              <a:t>PREPROCESSING</a:t>
            </a:r>
            <a:endParaRPr lang="en-US" sz="1600" dirty="0"/>
          </a:p>
        </p:txBody>
      </p:sp>
      <p:pic>
        <p:nvPicPr>
          <p:cNvPr id="12" name="image3.png">
            <a:extLst>
              <a:ext uri="{FF2B5EF4-FFF2-40B4-BE49-F238E27FC236}">
                <a16:creationId xmlns:a16="http://schemas.microsoft.com/office/drawing/2014/main" id="{519B7416-4759-45EE-84B4-82CA410F6432}"/>
              </a:ext>
            </a:extLst>
          </p:cNvPr>
          <p:cNvPicPr/>
          <p:nvPr/>
        </p:nvPicPr>
        <p:blipFill>
          <a:blip r:embed="rId2"/>
          <a:srcRect/>
          <a:stretch>
            <a:fillRect/>
          </a:stretch>
        </p:blipFill>
        <p:spPr>
          <a:xfrm>
            <a:off x="7666971" y="735955"/>
            <a:ext cx="2467628" cy="1038415"/>
          </a:xfrm>
          <a:prstGeom prst="rect">
            <a:avLst/>
          </a:prstGeom>
          <a:ln>
            <a:solidFill>
              <a:schemeClr val="accent3"/>
            </a:solidFill>
          </a:ln>
        </p:spPr>
      </p:pic>
      <p:sp>
        <p:nvSpPr>
          <p:cNvPr id="4" name="Arrow: Right 3">
            <a:extLst>
              <a:ext uri="{FF2B5EF4-FFF2-40B4-BE49-F238E27FC236}">
                <a16:creationId xmlns:a16="http://schemas.microsoft.com/office/drawing/2014/main" id="{1178A57F-02BF-4BE5-AACF-277239EEBEDC}"/>
              </a:ext>
            </a:extLst>
          </p:cNvPr>
          <p:cNvSpPr/>
          <p:nvPr/>
        </p:nvSpPr>
        <p:spPr>
          <a:xfrm flipH="1" flipV="1">
            <a:off x="3555544" y="2529122"/>
            <a:ext cx="903513" cy="468077"/>
          </a:xfrm>
          <a:prstGeom prst="rightArrow">
            <a:avLst/>
          </a:prstGeom>
          <a:solidFill>
            <a:schemeClr val="accent4">
              <a:lumMod val="7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4" name="Arrow: Right 13">
            <a:extLst>
              <a:ext uri="{FF2B5EF4-FFF2-40B4-BE49-F238E27FC236}">
                <a16:creationId xmlns:a16="http://schemas.microsoft.com/office/drawing/2014/main" id="{F31D0EA0-425A-45A0-AC24-B8D268DD91DC}"/>
              </a:ext>
            </a:extLst>
          </p:cNvPr>
          <p:cNvSpPr/>
          <p:nvPr/>
        </p:nvSpPr>
        <p:spPr>
          <a:xfrm flipH="1" flipV="1">
            <a:off x="3548746" y="4164452"/>
            <a:ext cx="524555" cy="288089"/>
          </a:xfrm>
          <a:prstGeom prst="rightArrow">
            <a:avLst/>
          </a:prstGeom>
          <a:solidFill>
            <a:schemeClr val="accent4">
              <a:lumMod val="7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Arrow: Right 14">
            <a:extLst>
              <a:ext uri="{FF2B5EF4-FFF2-40B4-BE49-F238E27FC236}">
                <a16:creationId xmlns:a16="http://schemas.microsoft.com/office/drawing/2014/main" id="{862905C6-0F9D-42D4-B7E6-E4979E4F5E7F}"/>
              </a:ext>
            </a:extLst>
          </p:cNvPr>
          <p:cNvSpPr/>
          <p:nvPr/>
        </p:nvSpPr>
        <p:spPr>
          <a:xfrm flipH="1" flipV="1">
            <a:off x="3585485" y="5754638"/>
            <a:ext cx="851804" cy="468077"/>
          </a:xfrm>
          <a:prstGeom prst="rightArrow">
            <a:avLst/>
          </a:prstGeom>
          <a:solidFill>
            <a:schemeClr val="accent4">
              <a:lumMod val="7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6" name="Arrow: Right 15">
            <a:extLst>
              <a:ext uri="{FF2B5EF4-FFF2-40B4-BE49-F238E27FC236}">
                <a16:creationId xmlns:a16="http://schemas.microsoft.com/office/drawing/2014/main" id="{C152CA99-3434-4621-9D38-24C19BFA80C0}"/>
              </a:ext>
            </a:extLst>
          </p:cNvPr>
          <p:cNvSpPr/>
          <p:nvPr/>
        </p:nvSpPr>
        <p:spPr>
          <a:xfrm rot="5400000" flipH="1" flipV="1">
            <a:off x="9746303" y="5007726"/>
            <a:ext cx="556165" cy="351538"/>
          </a:xfrm>
          <a:prstGeom prst="rightArrow">
            <a:avLst>
              <a:gd name="adj1" fmla="val 50000"/>
              <a:gd name="adj2" fmla="val 51857"/>
            </a:avLst>
          </a:prstGeom>
          <a:solidFill>
            <a:schemeClr val="accent4">
              <a:lumMod val="7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8" name="Arrow: Right 17">
            <a:extLst>
              <a:ext uri="{FF2B5EF4-FFF2-40B4-BE49-F238E27FC236}">
                <a16:creationId xmlns:a16="http://schemas.microsoft.com/office/drawing/2014/main" id="{1B730052-D24B-47F1-BF36-07716CD14717}"/>
              </a:ext>
            </a:extLst>
          </p:cNvPr>
          <p:cNvSpPr/>
          <p:nvPr/>
        </p:nvSpPr>
        <p:spPr>
          <a:xfrm rot="16200000" flipH="1" flipV="1">
            <a:off x="5267468" y="3376677"/>
            <a:ext cx="477365" cy="364623"/>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80A5D3D5-1EBE-459A-B654-6D942904033A}"/>
              </a:ext>
            </a:extLst>
          </p:cNvPr>
          <p:cNvSpPr/>
          <p:nvPr/>
        </p:nvSpPr>
        <p:spPr>
          <a:xfrm rot="16200000" flipH="1" flipV="1">
            <a:off x="5065476" y="4840277"/>
            <a:ext cx="777894" cy="468077"/>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53B221F8-37E1-48F3-B11D-2C22BFEAE1F0}"/>
              </a:ext>
            </a:extLst>
          </p:cNvPr>
          <p:cNvSpPr/>
          <p:nvPr/>
        </p:nvSpPr>
        <p:spPr>
          <a:xfrm rot="10800000" flipH="1" flipV="1">
            <a:off x="6818542" y="5743167"/>
            <a:ext cx="2107744" cy="468077"/>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9321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1000"/>
                                        <p:tgtEl>
                                          <p:spTgt spid="18"/>
                                        </p:tgtEl>
                                      </p:cBhvr>
                                    </p:animEffect>
                                    <p:anim calcmode="lin" valueType="num">
                                      <p:cBhvr>
                                        <p:cTn id="29" dur="1000" fill="hold"/>
                                        <p:tgtEl>
                                          <p:spTgt spid="18"/>
                                        </p:tgtEl>
                                        <p:attrNameLst>
                                          <p:attrName>ppt_x</p:attrName>
                                        </p:attrNameLst>
                                      </p:cBhvr>
                                      <p:tavLst>
                                        <p:tav tm="0">
                                          <p:val>
                                            <p:strVal val="#ppt_x"/>
                                          </p:val>
                                        </p:tav>
                                        <p:tav tm="100000">
                                          <p:val>
                                            <p:strVal val="#ppt_x"/>
                                          </p:val>
                                        </p:tav>
                                      </p:tavLst>
                                    </p:anim>
                                    <p:anim calcmode="lin" valueType="num">
                                      <p:cBhvr>
                                        <p:cTn id="30"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1000"/>
                                        <p:tgtEl>
                                          <p:spTgt spid="33"/>
                                        </p:tgtEl>
                                      </p:cBhvr>
                                    </p:animEffect>
                                    <p:anim calcmode="lin" valueType="num">
                                      <p:cBhvr>
                                        <p:cTn id="36" dur="1000" fill="hold"/>
                                        <p:tgtEl>
                                          <p:spTgt spid="33"/>
                                        </p:tgtEl>
                                        <p:attrNameLst>
                                          <p:attrName>ppt_x</p:attrName>
                                        </p:attrNameLst>
                                      </p:cBhvr>
                                      <p:tavLst>
                                        <p:tav tm="0">
                                          <p:val>
                                            <p:strVal val="#ppt_x"/>
                                          </p:val>
                                        </p:tav>
                                        <p:tav tm="100000">
                                          <p:val>
                                            <p:strVal val="#ppt_x"/>
                                          </p:val>
                                        </p:tav>
                                      </p:tavLst>
                                    </p:anim>
                                    <p:anim calcmode="lin" valueType="num">
                                      <p:cBhvr>
                                        <p:cTn id="37"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1000"/>
                                        <p:tgtEl>
                                          <p:spTgt spid="14"/>
                                        </p:tgtEl>
                                      </p:cBhvr>
                                    </p:animEffect>
                                    <p:anim calcmode="lin" valueType="num">
                                      <p:cBhvr>
                                        <p:cTn id="43" dur="1000" fill="hold"/>
                                        <p:tgtEl>
                                          <p:spTgt spid="14"/>
                                        </p:tgtEl>
                                        <p:attrNameLst>
                                          <p:attrName>ppt_x</p:attrName>
                                        </p:attrNameLst>
                                      </p:cBhvr>
                                      <p:tavLst>
                                        <p:tav tm="0">
                                          <p:val>
                                            <p:strVal val="#ppt_x"/>
                                          </p:val>
                                        </p:tav>
                                        <p:tav tm="100000">
                                          <p:val>
                                            <p:strVal val="#ppt_x"/>
                                          </p:val>
                                        </p:tav>
                                      </p:tavLst>
                                    </p:anim>
                                    <p:anim calcmode="lin" valueType="num">
                                      <p:cBhvr>
                                        <p:cTn id="4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1000"/>
                                        <p:tgtEl>
                                          <p:spTgt spid="8"/>
                                        </p:tgtEl>
                                      </p:cBhvr>
                                    </p:animEffect>
                                    <p:anim calcmode="lin" valueType="num">
                                      <p:cBhvr>
                                        <p:cTn id="50" dur="1000" fill="hold"/>
                                        <p:tgtEl>
                                          <p:spTgt spid="8"/>
                                        </p:tgtEl>
                                        <p:attrNameLst>
                                          <p:attrName>ppt_x</p:attrName>
                                        </p:attrNameLst>
                                      </p:cBhvr>
                                      <p:tavLst>
                                        <p:tav tm="0">
                                          <p:val>
                                            <p:strVal val="#ppt_x"/>
                                          </p:val>
                                        </p:tav>
                                        <p:tav tm="100000">
                                          <p:val>
                                            <p:strVal val="#ppt_x"/>
                                          </p:val>
                                        </p:tav>
                                      </p:tavLst>
                                    </p:anim>
                                    <p:anim calcmode="lin" valueType="num">
                                      <p:cBhvr>
                                        <p:cTn id="5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1000"/>
                                        <p:tgtEl>
                                          <p:spTgt spid="19"/>
                                        </p:tgtEl>
                                      </p:cBhvr>
                                    </p:animEffect>
                                    <p:anim calcmode="lin" valueType="num">
                                      <p:cBhvr>
                                        <p:cTn id="57" dur="1000" fill="hold"/>
                                        <p:tgtEl>
                                          <p:spTgt spid="19"/>
                                        </p:tgtEl>
                                        <p:attrNameLst>
                                          <p:attrName>ppt_x</p:attrName>
                                        </p:attrNameLst>
                                      </p:cBhvr>
                                      <p:tavLst>
                                        <p:tav tm="0">
                                          <p:val>
                                            <p:strVal val="#ppt_x"/>
                                          </p:val>
                                        </p:tav>
                                        <p:tav tm="100000">
                                          <p:val>
                                            <p:strVal val="#ppt_x"/>
                                          </p:val>
                                        </p:tav>
                                      </p:tavLst>
                                    </p:anim>
                                    <p:anim calcmode="lin" valueType="num">
                                      <p:cBhvr>
                                        <p:cTn id="58"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3" dur="1000"/>
                                        <p:tgtEl>
                                          <p:spTgt spid="32"/>
                                        </p:tgtEl>
                                      </p:cBhvr>
                                    </p:animEffect>
                                    <p:anim calcmode="lin" valueType="num">
                                      <p:cBhvr>
                                        <p:cTn id="64" dur="1000" fill="hold"/>
                                        <p:tgtEl>
                                          <p:spTgt spid="32"/>
                                        </p:tgtEl>
                                        <p:attrNameLst>
                                          <p:attrName>ppt_x</p:attrName>
                                        </p:attrNameLst>
                                      </p:cBhvr>
                                      <p:tavLst>
                                        <p:tav tm="0">
                                          <p:val>
                                            <p:strVal val="#ppt_x"/>
                                          </p:val>
                                        </p:tav>
                                        <p:tav tm="100000">
                                          <p:val>
                                            <p:strVal val="#ppt_x"/>
                                          </p:val>
                                        </p:tav>
                                      </p:tavLst>
                                    </p:anim>
                                    <p:anim calcmode="lin" valueType="num">
                                      <p:cBhvr>
                                        <p:cTn id="65"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1000"/>
                                        <p:tgtEl>
                                          <p:spTgt spid="15"/>
                                        </p:tgtEl>
                                      </p:cBhvr>
                                    </p:animEffect>
                                    <p:anim calcmode="lin" valueType="num">
                                      <p:cBhvr>
                                        <p:cTn id="71" dur="1000" fill="hold"/>
                                        <p:tgtEl>
                                          <p:spTgt spid="15"/>
                                        </p:tgtEl>
                                        <p:attrNameLst>
                                          <p:attrName>ppt_x</p:attrName>
                                        </p:attrNameLst>
                                      </p:cBhvr>
                                      <p:tavLst>
                                        <p:tav tm="0">
                                          <p:val>
                                            <p:strVal val="#ppt_x"/>
                                          </p:val>
                                        </p:tav>
                                        <p:tav tm="100000">
                                          <p:val>
                                            <p:strVal val="#ppt_x"/>
                                          </p:val>
                                        </p:tav>
                                      </p:tavLst>
                                    </p:anim>
                                    <p:anim calcmode="lin" valueType="num">
                                      <p:cBhvr>
                                        <p:cTn id="72"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9"/>
                                        </p:tgtEl>
                                        <p:attrNameLst>
                                          <p:attrName>style.visibility</p:attrName>
                                        </p:attrNameLst>
                                      </p:cBhvr>
                                      <p:to>
                                        <p:strVal val="visible"/>
                                      </p:to>
                                    </p:set>
                                    <p:animEffect transition="in" filter="fade">
                                      <p:cBhvr>
                                        <p:cTn id="77" dur="1000"/>
                                        <p:tgtEl>
                                          <p:spTgt spid="9"/>
                                        </p:tgtEl>
                                      </p:cBhvr>
                                    </p:animEffect>
                                    <p:anim calcmode="lin" valueType="num">
                                      <p:cBhvr>
                                        <p:cTn id="78" dur="1000" fill="hold"/>
                                        <p:tgtEl>
                                          <p:spTgt spid="9"/>
                                        </p:tgtEl>
                                        <p:attrNameLst>
                                          <p:attrName>ppt_x</p:attrName>
                                        </p:attrNameLst>
                                      </p:cBhvr>
                                      <p:tavLst>
                                        <p:tav tm="0">
                                          <p:val>
                                            <p:strVal val="#ppt_x"/>
                                          </p:val>
                                        </p:tav>
                                        <p:tav tm="100000">
                                          <p:val>
                                            <p:strVal val="#ppt_x"/>
                                          </p:val>
                                        </p:tav>
                                      </p:tavLst>
                                    </p:anim>
                                    <p:anim calcmode="lin" valueType="num">
                                      <p:cBhvr>
                                        <p:cTn id="7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0"/>
                                        </p:tgtEl>
                                        <p:attrNameLst>
                                          <p:attrName>style.visibility</p:attrName>
                                        </p:attrNameLst>
                                      </p:cBhvr>
                                      <p:to>
                                        <p:strVal val="visible"/>
                                      </p:to>
                                    </p:set>
                                    <p:animEffect transition="in" filter="fade">
                                      <p:cBhvr>
                                        <p:cTn id="84" dur="1000"/>
                                        <p:tgtEl>
                                          <p:spTgt spid="20"/>
                                        </p:tgtEl>
                                      </p:cBhvr>
                                    </p:animEffect>
                                    <p:anim calcmode="lin" valueType="num">
                                      <p:cBhvr>
                                        <p:cTn id="85" dur="1000" fill="hold"/>
                                        <p:tgtEl>
                                          <p:spTgt spid="20"/>
                                        </p:tgtEl>
                                        <p:attrNameLst>
                                          <p:attrName>ppt_x</p:attrName>
                                        </p:attrNameLst>
                                      </p:cBhvr>
                                      <p:tavLst>
                                        <p:tav tm="0">
                                          <p:val>
                                            <p:strVal val="#ppt_x"/>
                                          </p:val>
                                        </p:tav>
                                        <p:tav tm="100000">
                                          <p:val>
                                            <p:strVal val="#ppt_x"/>
                                          </p:val>
                                        </p:tav>
                                      </p:tavLst>
                                    </p:anim>
                                    <p:anim calcmode="lin" valueType="num">
                                      <p:cBhvr>
                                        <p:cTn id="86"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1000"/>
                                        <p:tgtEl>
                                          <p:spTgt spid="31"/>
                                        </p:tgtEl>
                                      </p:cBhvr>
                                    </p:animEffect>
                                    <p:anim calcmode="lin" valueType="num">
                                      <p:cBhvr>
                                        <p:cTn id="92" dur="1000" fill="hold"/>
                                        <p:tgtEl>
                                          <p:spTgt spid="31"/>
                                        </p:tgtEl>
                                        <p:attrNameLst>
                                          <p:attrName>ppt_x</p:attrName>
                                        </p:attrNameLst>
                                      </p:cBhvr>
                                      <p:tavLst>
                                        <p:tav tm="0">
                                          <p:val>
                                            <p:strVal val="#ppt_x"/>
                                          </p:val>
                                        </p:tav>
                                        <p:tav tm="100000">
                                          <p:val>
                                            <p:strVal val="#ppt_x"/>
                                          </p:val>
                                        </p:tav>
                                      </p:tavLst>
                                    </p:anim>
                                    <p:anim calcmode="lin" valueType="num">
                                      <p:cBhvr>
                                        <p:cTn id="93"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16"/>
                                        </p:tgtEl>
                                        <p:attrNameLst>
                                          <p:attrName>style.visibility</p:attrName>
                                        </p:attrNameLst>
                                      </p:cBhvr>
                                      <p:to>
                                        <p:strVal val="visible"/>
                                      </p:to>
                                    </p:set>
                                    <p:animEffect transition="in" filter="fade">
                                      <p:cBhvr>
                                        <p:cTn id="98" dur="1000"/>
                                        <p:tgtEl>
                                          <p:spTgt spid="16"/>
                                        </p:tgtEl>
                                      </p:cBhvr>
                                    </p:animEffect>
                                    <p:anim calcmode="lin" valueType="num">
                                      <p:cBhvr>
                                        <p:cTn id="99" dur="1000" fill="hold"/>
                                        <p:tgtEl>
                                          <p:spTgt spid="16"/>
                                        </p:tgtEl>
                                        <p:attrNameLst>
                                          <p:attrName>ppt_x</p:attrName>
                                        </p:attrNameLst>
                                      </p:cBhvr>
                                      <p:tavLst>
                                        <p:tav tm="0">
                                          <p:val>
                                            <p:strVal val="#ppt_x"/>
                                          </p:val>
                                        </p:tav>
                                        <p:tav tm="100000">
                                          <p:val>
                                            <p:strVal val="#ppt_x"/>
                                          </p:val>
                                        </p:tav>
                                      </p:tavLst>
                                    </p:anim>
                                    <p:anim calcmode="lin" valueType="num">
                                      <p:cBhvr>
                                        <p:cTn id="10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10"/>
                                        </p:tgtEl>
                                        <p:attrNameLst>
                                          <p:attrName>style.visibility</p:attrName>
                                        </p:attrNameLst>
                                      </p:cBhvr>
                                      <p:to>
                                        <p:strVal val="visible"/>
                                      </p:to>
                                    </p:set>
                                    <p:animEffect transition="in" filter="fade">
                                      <p:cBhvr>
                                        <p:cTn id="105" dur="1000"/>
                                        <p:tgtEl>
                                          <p:spTgt spid="10"/>
                                        </p:tgtEl>
                                      </p:cBhvr>
                                    </p:animEffect>
                                    <p:anim calcmode="lin" valueType="num">
                                      <p:cBhvr>
                                        <p:cTn id="106" dur="1000" fill="hold"/>
                                        <p:tgtEl>
                                          <p:spTgt spid="10"/>
                                        </p:tgtEl>
                                        <p:attrNameLst>
                                          <p:attrName>ppt_x</p:attrName>
                                        </p:attrNameLst>
                                      </p:cBhvr>
                                      <p:tavLst>
                                        <p:tav tm="0">
                                          <p:val>
                                            <p:strVal val="#ppt_x"/>
                                          </p:val>
                                        </p:tav>
                                        <p:tav tm="100000">
                                          <p:val>
                                            <p:strVal val="#ppt_x"/>
                                          </p:val>
                                        </p:tav>
                                      </p:tavLst>
                                    </p:anim>
                                    <p:anim calcmode="lin" valueType="num">
                                      <p:cBhvr>
                                        <p:cTn id="10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7" grpId="0" animBg="1"/>
      <p:bldP spid="31" grpId="0" animBg="1"/>
      <p:bldP spid="32" grpId="0" animBg="1"/>
      <p:bldP spid="33" grpId="0" animBg="1"/>
      <p:bldP spid="4" grpId="0" animBg="1"/>
      <p:bldP spid="14" grpId="0" animBg="1"/>
      <p:bldP spid="15" grpId="0" animBg="1"/>
      <p:bldP spid="16" grpId="0" animBg="1"/>
      <p:bldP spid="18" grpId="0" animBg="1"/>
      <p:bldP spid="19" grpId="0" animBg="1"/>
      <p:bldP spid="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65AAE-44E5-4EDC-BEF8-B231E06D342A}"/>
              </a:ext>
            </a:extLst>
          </p:cNvPr>
          <p:cNvSpPr>
            <a:spLocks noGrp="1"/>
          </p:cNvSpPr>
          <p:nvPr>
            <p:ph type="title"/>
          </p:nvPr>
        </p:nvSpPr>
        <p:spPr/>
        <p:txBody>
          <a:bodyPr/>
          <a:lstStyle/>
          <a:p>
            <a:r>
              <a:rPr lang="en-US" dirty="0"/>
              <a:t>DATA INSIGHTS</a:t>
            </a:r>
          </a:p>
        </p:txBody>
      </p:sp>
      <p:sp>
        <p:nvSpPr>
          <p:cNvPr id="3" name="Content Placeholder 2">
            <a:extLst>
              <a:ext uri="{FF2B5EF4-FFF2-40B4-BE49-F238E27FC236}">
                <a16:creationId xmlns:a16="http://schemas.microsoft.com/office/drawing/2014/main" id="{2C23A382-7293-4FB0-AB69-E3D1867DDA88}"/>
              </a:ext>
            </a:extLst>
          </p:cNvPr>
          <p:cNvSpPr>
            <a:spLocks noGrp="1"/>
          </p:cNvSpPr>
          <p:nvPr>
            <p:ph idx="1"/>
          </p:nvPr>
        </p:nvSpPr>
        <p:spPr>
          <a:xfrm>
            <a:off x="533400" y="2438400"/>
            <a:ext cx="10648950" cy="4076700"/>
          </a:xfrm>
        </p:spPr>
        <p:txBody>
          <a:bodyPr>
            <a:noAutofit/>
          </a:bodyPr>
          <a:lstStyle/>
          <a:p>
            <a:pPr>
              <a:lnSpc>
                <a:spcPct val="150000"/>
              </a:lnSpc>
              <a:buFont typeface="Wingdings" panose="05000000000000000000" pitchFamily="2" charset="2"/>
              <a:buChar char="Ø"/>
            </a:pPr>
            <a:r>
              <a:rPr lang="en-US" sz="1500" dirty="0"/>
              <a:t>Natural resource depletion is a major contributor to methane emission. But, it makes a country self-reliant for energy needs.</a:t>
            </a:r>
          </a:p>
          <a:p>
            <a:pPr>
              <a:lnSpc>
                <a:spcPct val="150000"/>
              </a:lnSpc>
              <a:buFont typeface="Wingdings" panose="05000000000000000000" pitchFamily="2" charset="2"/>
              <a:buChar char="Ø"/>
            </a:pPr>
            <a:r>
              <a:rPr lang="en-US" sz="1500" dirty="0"/>
              <a:t>Forest resources serve as an effective alternative to fossil fuels which is majorly quenched by Forest agriculture. </a:t>
            </a:r>
          </a:p>
          <a:p>
            <a:pPr>
              <a:lnSpc>
                <a:spcPct val="150000"/>
              </a:lnSpc>
              <a:buFont typeface="Wingdings" panose="05000000000000000000" pitchFamily="2" charset="2"/>
              <a:buChar char="Ø"/>
            </a:pPr>
            <a:r>
              <a:rPr lang="en-US" sz="1500" dirty="0"/>
              <a:t>To add a unit value to forest agriculture and fishing, forest area depletes quadratically.</a:t>
            </a:r>
          </a:p>
          <a:p>
            <a:pPr>
              <a:lnSpc>
                <a:spcPct val="150000"/>
              </a:lnSpc>
              <a:buFont typeface="Wingdings" panose="05000000000000000000" pitchFamily="2" charset="2"/>
              <a:buChar char="Ø"/>
            </a:pPr>
            <a:r>
              <a:rPr lang="en-US" sz="1500" dirty="0"/>
              <a:t>Forest agriculture evidently helps decreasing CO2 emissions. </a:t>
            </a:r>
          </a:p>
          <a:p>
            <a:pPr>
              <a:lnSpc>
                <a:spcPct val="150000"/>
              </a:lnSpc>
              <a:buFont typeface="Wingdings" panose="05000000000000000000" pitchFamily="2" charset="2"/>
              <a:buChar char="Ø"/>
            </a:pPr>
            <a:r>
              <a:rPr lang="en-US" sz="1500" dirty="0"/>
              <a:t>Energy use, fossil fuels and Gas sources are major contributor of CO2 emissions.</a:t>
            </a:r>
          </a:p>
          <a:p>
            <a:pPr>
              <a:lnSpc>
                <a:spcPct val="150000"/>
              </a:lnSpc>
              <a:buFont typeface="Wingdings" panose="05000000000000000000" pitchFamily="2" charset="2"/>
              <a:buChar char="Ø"/>
            </a:pPr>
            <a:r>
              <a:rPr lang="en-US" sz="1500" dirty="0"/>
              <a:t>The major source of production of electricity is still coal.</a:t>
            </a:r>
          </a:p>
          <a:p>
            <a:pPr>
              <a:lnSpc>
                <a:spcPct val="150000"/>
              </a:lnSpc>
              <a:buFont typeface="Wingdings" panose="05000000000000000000" pitchFamily="2" charset="2"/>
              <a:buChar char="Ø"/>
            </a:pPr>
            <a:r>
              <a:rPr lang="en-US" sz="1500" dirty="0"/>
              <a:t>Importing energy significantly decreases annual methane emissions.</a:t>
            </a:r>
            <a:endParaRPr lang="en-IN" sz="1500" dirty="0"/>
          </a:p>
          <a:p>
            <a:pPr>
              <a:lnSpc>
                <a:spcPct val="150000"/>
              </a:lnSpc>
              <a:buFont typeface="Wingdings" panose="05000000000000000000" pitchFamily="2" charset="2"/>
              <a:buChar char="Ø"/>
            </a:pPr>
            <a:endParaRPr lang="en-US" sz="1500" b="1" dirty="0">
              <a:solidFill>
                <a:schemeClr val="tx1"/>
              </a:solidFill>
              <a:latin typeface="Agency FB" panose="020B0503020202020204" pitchFamily="34" charset="0"/>
            </a:endParaRPr>
          </a:p>
        </p:txBody>
      </p:sp>
      <p:pic>
        <p:nvPicPr>
          <p:cNvPr id="5" name="image3.png">
            <a:extLst>
              <a:ext uri="{FF2B5EF4-FFF2-40B4-BE49-F238E27FC236}">
                <a16:creationId xmlns:a16="http://schemas.microsoft.com/office/drawing/2014/main" id="{7B0CC269-C3BC-460B-BC9E-792A26FEBEB6}"/>
              </a:ext>
            </a:extLst>
          </p:cNvPr>
          <p:cNvPicPr/>
          <p:nvPr/>
        </p:nvPicPr>
        <p:blipFill>
          <a:blip r:embed="rId2"/>
          <a:srcRect/>
          <a:stretch>
            <a:fillRect/>
          </a:stretch>
        </p:blipFill>
        <p:spPr>
          <a:xfrm>
            <a:off x="8324850" y="973668"/>
            <a:ext cx="1591516" cy="706964"/>
          </a:xfrm>
          <a:prstGeom prst="rect">
            <a:avLst/>
          </a:prstGeom>
          <a:ln/>
        </p:spPr>
      </p:pic>
    </p:spTree>
    <p:extLst>
      <p:ext uri="{BB962C8B-B14F-4D97-AF65-F5344CB8AC3E}">
        <p14:creationId xmlns:p14="http://schemas.microsoft.com/office/powerpoint/2010/main" val="53347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fade">
                                      <p:cBhvr>
                                        <p:cTn id="21" dur="1000"/>
                                        <p:tgtEl>
                                          <p:spTgt spid="3">
                                            <p:txEl>
                                              <p:pRg st="0" end="0"/>
                                            </p:txEl>
                                          </p:spTgt>
                                        </p:tgtEl>
                                      </p:cBhvr>
                                    </p:animEffect>
                                    <p:anim calcmode="lin" valueType="num">
                                      <p:cBhvr>
                                        <p:cTn id="22"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fade">
                                      <p:cBhvr>
                                        <p:cTn id="28" dur="1000"/>
                                        <p:tgtEl>
                                          <p:spTgt spid="3">
                                            <p:txEl>
                                              <p:pRg st="1" end="1"/>
                                            </p:txEl>
                                          </p:spTgt>
                                        </p:tgtEl>
                                      </p:cBhvr>
                                    </p:animEffect>
                                    <p:anim calcmode="lin" valueType="num">
                                      <p:cBhvr>
                                        <p:cTn id="29"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Effect transition="in" filter="fade">
                                      <p:cBhvr>
                                        <p:cTn id="35" dur="1000"/>
                                        <p:tgtEl>
                                          <p:spTgt spid="3">
                                            <p:txEl>
                                              <p:pRg st="2" end="2"/>
                                            </p:txEl>
                                          </p:spTgt>
                                        </p:tgtEl>
                                      </p:cBhvr>
                                    </p:animEffect>
                                    <p:anim calcmode="lin" valueType="num">
                                      <p:cBhvr>
                                        <p:cTn id="36"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3" end="3"/>
                                            </p:txEl>
                                          </p:spTgt>
                                        </p:tgtEl>
                                        <p:attrNameLst>
                                          <p:attrName>style.visibility</p:attrName>
                                        </p:attrNameLst>
                                      </p:cBhvr>
                                      <p:to>
                                        <p:strVal val="visible"/>
                                      </p:to>
                                    </p:set>
                                    <p:animEffect transition="in" filter="fade">
                                      <p:cBhvr>
                                        <p:cTn id="42" dur="1000"/>
                                        <p:tgtEl>
                                          <p:spTgt spid="3">
                                            <p:txEl>
                                              <p:pRg st="3" end="3"/>
                                            </p:txEl>
                                          </p:spTgt>
                                        </p:tgtEl>
                                      </p:cBhvr>
                                    </p:animEffect>
                                    <p:anim calcmode="lin" valueType="num">
                                      <p:cBhvr>
                                        <p:cTn id="4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4" end="4"/>
                                            </p:txEl>
                                          </p:spTgt>
                                        </p:tgtEl>
                                        <p:attrNameLst>
                                          <p:attrName>style.visibility</p:attrName>
                                        </p:attrNameLst>
                                      </p:cBhvr>
                                      <p:to>
                                        <p:strVal val="visible"/>
                                      </p:to>
                                    </p:set>
                                    <p:animEffect transition="in" filter="fade">
                                      <p:cBhvr>
                                        <p:cTn id="49" dur="1000"/>
                                        <p:tgtEl>
                                          <p:spTgt spid="3">
                                            <p:txEl>
                                              <p:pRg st="4" end="4"/>
                                            </p:txEl>
                                          </p:spTgt>
                                        </p:tgtEl>
                                      </p:cBhvr>
                                    </p:animEffect>
                                    <p:anim calcmode="lin" valueType="num">
                                      <p:cBhvr>
                                        <p:cTn id="5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5" end="5"/>
                                            </p:txEl>
                                          </p:spTgt>
                                        </p:tgtEl>
                                        <p:attrNameLst>
                                          <p:attrName>style.visibility</p:attrName>
                                        </p:attrNameLst>
                                      </p:cBhvr>
                                      <p:to>
                                        <p:strVal val="visible"/>
                                      </p:to>
                                    </p:set>
                                    <p:animEffect transition="in" filter="fade">
                                      <p:cBhvr>
                                        <p:cTn id="56" dur="1000"/>
                                        <p:tgtEl>
                                          <p:spTgt spid="3">
                                            <p:txEl>
                                              <p:pRg st="5" end="5"/>
                                            </p:txEl>
                                          </p:spTgt>
                                        </p:tgtEl>
                                      </p:cBhvr>
                                    </p:animEffect>
                                    <p:anim calcmode="lin" valueType="num">
                                      <p:cBhvr>
                                        <p:cTn id="5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6" end="6"/>
                                            </p:txEl>
                                          </p:spTgt>
                                        </p:tgtEl>
                                        <p:attrNameLst>
                                          <p:attrName>style.visibility</p:attrName>
                                        </p:attrNameLst>
                                      </p:cBhvr>
                                      <p:to>
                                        <p:strVal val="visible"/>
                                      </p:to>
                                    </p:set>
                                    <p:animEffect transition="in" filter="fade">
                                      <p:cBhvr>
                                        <p:cTn id="63" dur="1000"/>
                                        <p:tgtEl>
                                          <p:spTgt spid="3">
                                            <p:txEl>
                                              <p:pRg st="6" end="6"/>
                                            </p:txEl>
                                          </p:spTgt>
                                        </p:tgtEl>
                                      </p:cBhvr>
                                    </p:animEffect>
                                    <p:anim calcmode="lin" valueType="num">
                                      <p:cBhvr>
                                        <p:cTn id="6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CA1EC-4462-433B-8EE2-796B39E13DAF}"/>
              </a:ext>
            </a:extLst>
          </p:cNvPr>
          <p:cNvSpPr>
            <a:spLocks noGrp="1"/>
          </p:cNvSpPr>
          <p:nvPr>
            <p:ph type="title"/>
          </p:nvPr>
        </p:nvSpPr>
        <p:spPr>
          <a:xfrm>
            <a:off x="1164478" y="657225"/>
            <a:ext cx="8761413" cy="1114425"/>
          </a:xfrm>
        </p:spPr>
        <p:txBody>
          <a:bodyPr/>
          <a:lstStyle/>
          <a:p>
            <a:r>
              <a:rPr lang="en-US" dirty="0"/>
              <a:t>DATA INSIGHTS</a:t>
            </a:r>
          </a:p>
        </p:txBody>
      </p:sp>
      <p:pic>
        <p:nvPicPr>
          <p:cNvPr id="6" name="image3.png">
            <a:extLst>
              <a:ext uri="{FF2B5EF4-FFF2-40B4-BE49-F238E27FC236}">
                <a16:creationId xmlns:a16="http://schemas.microsoft.com/office/drawing/2014/main" id="{F8FC03AC-1368-4D97-B48F-13C2B650164D}"/>
              </a:ext>
            </a:extLst>
          </p:cNvPr>
          <p:cNvPicPr/>
          <p:nvPr/>
        </p:nvPicPr>
        <p:blipFill>
          <a:blip r:embed="rId2"/>
          <a:srcRect/>
          <a:stretch>
            <a:fillRect/>
          </a:stretch>
        </p:blipFill>
        <p:spPr>
          <a:xfrm>
            <a:off x="7620841" y="752475"/>
            <a:ext cx="2295525" cy="885825"/>
          </a:xfrm>
          <a:prstGeom prst="rect">
            <a:avLst/>
          </a:prstGeom>
          <a:ln>
            <a:solidFill>
              <a:schemeClr val="accent3"/>
            </a:solidFill>
          </a:ln>
        </p:spPr>
      </p:pic>
      <p:sp>
        <p:nvSpPr>
          <p:cNvPr id="9" name="TextBox 8">
            <a:extLst>
              <a:ext uri="{FF2B5EF4-FFF2-40B4-BE49-F238E27FC236}">
                <a16:creationId xmlns:a16="http://schemas.microsoft.com/office/drawing/2014/main" id="{24323659-1070-4C41-A248-A081C7A6263D}"/>
              </a:ext>
            </a:extLst>
          </p:cNvPr>
          <p:cNvSpPr txBox="1"/>
          <p:nvPr/>
        </p:nvSpPr>
        <p:spPr>
          <a:xfrm>
            <a:off x="485775" y="2522607"/>
            <a:ext cx="11420475" cy="3587905"/>
          </a:xfrm>
          <a:prstGeom prst="rect">
            <a:avLst/>
          </a:prstGeom>
          <a:noFill/>
        </p:spPr>
        <p:txBody>
          <a:bodyPr wrap="square">
            <a:spAutoFit/>
          </a:bodyPr>
          <a:lstStyle/>
          <a:p>
            <a:pPr marL="342900" indent="-342900">
              <a:lnSpc>
                <a:spcPct val="150000"/>
              </a:lnSpc>
              <a:spcBef>
                <a:spcPts val="1000"/>
              </a:spcBef>
              <a:buClr>
                <a:schemeClr val="accent1"/>
              </a:buClr>
              <a:buSzPct val="80000"/>
              <a:buFont typeface="Wingdings" panose="05000000000000000000" pitchFamily="2" charset="2"/>
              <a:buChar char="Ø"/>
            </a:pPr>
            <a:r>
              <a:rPr lang="en-US" sz="1500" dirty="0">
                <a:solidFill>
                  <a:schemeClr val="tx1">
                    <a:lumMod val="75000"/>
                    <a:lumOff val="25000"/>
                  </a:schemeClr>
                </a:solidFill>
              </a:rPr>
              <a:t>Fossil fuel consumption is a major cause for decrease in average rainfall.</a:t>
            </a:r>
          </a:p>
          <a:p>
            <a:pPr marL="342900" indent="-342900">
              <a:lnSpc>
                <a:spcPct val="150000"/>
              </a:lnSpc>
              <a:spcBef>
                <a:spcPts val="1000"/>
              </a:spcBef>
              <a:buClr>
                <a:schemeClr val="accent1"/>
              </a:buClr>
              <a:buSzPct val="80000"/>
              <a:buFont typeface="Wingdings" panose="05000000000000000000" pitchFamily="2" charset="2"/>
              <a:buChar char="Ø"/>
            </a:pPr>
            <a:r>
              <a:rPr lang="en-US" sz="1500" dirty="0">
                <a:solidFill>
                  <a:schemeClr val="tx1">
                    <a:lumMod val="75000"/>
                    <a:lumOff val="25000"/>
                  </a:schemeClr>
                </a:solidFill>
              </a:rPr>
              <a:t>Production sector, esp. Cement, is the major contributor of annual CO2 emissions.</a:t>
            </a:r>
          </a:p>
          <a:p>
            <a:pPr marL="342900" indent="-342900">
              <a:lnSpc>
                <a:spcPct val="150000"/>
              </a:lnSpc>
              <a:spcBef>
                <a:spcPts val="1000"/>
              </a:spcBef>
              <a:buClr>
                <a:schemeClr val="accent1"/>
              </a:buClr>
              <a:buSzPct val="80000"/>
              <a:buFont typeface="Wingdings" panose="05000000000000000000" pitchFamily="2" charset="2"/>
              <a:buChar char="Ø"/>
            </a:pPr>
            <a:r>
              <a:rPr lang="en-US" sz="1500" dirty="0">
                <a:solidFill>
                  <a:schemeClr val="tx1">
                    <a:lumMod val="75000"/>
                    <a:lumOff val="25000"/>
                  </a:schemeClr>
                </a:solidFill>
              </a:rPr>
              <a:t>Oil being the most dominant energy source for production sector, followed by Coal then Gas.</a:t>
            </a:r>
          </a:p>
          <a:p>
            <a:pPr marL="342900" indent="-342900">
              <a:lnSpc>
                <a:spcPct val="150000"/>
              </a:lnSpc>
              <a:spcBef>
                <a:spcPts val="1000"/>
              </a:spcBef>
              <a:buClr>
                <a:schemeClr val="accent1"/>
              </a:buClr>
              <a:buSzPct val="80000"/>
              <a:buFont typeface="Wingdings" panose="05000000000000000000" pitchFamily="2" charset="2"/>
              <a:buChar char="Ø"/>
            </a:pPr>
            <a:r>
              <a:rPr lang="en-US" sz="1500" dirty="0">
                <a:solidFill>
                  <a:schemeClr val="tx1">
                    <a:lumMod val="75000"/>
                    <a:lumOff val="25000"/>
                  </a:schemeClr>
                </a:solidFill>
              </a:rPr>
              <a:t>Increase in GDP per capita leads to increase in CO2 emissions, primarily caused by consumption of resources. </a:t>
            </a:r>
          </a:p>
          <a:p>
            <a:pPr marL="342900" indent="-342900">
              <a:lnSpc>
                <a:spcPct val="150000"/>
              </a:lnSpc>
              <a:spcBef>
                <a:spcPts val="1000"/>
              </a:spcBef>
              <a:buClr>
                <a:schemeClr val="accent1"/>
              </a:buClr>
              <a:buSzPct val="80000"/>
              <a:buFont typeface="Wingdings" panose="05000000000000000000" pitchFamily="2" charset="2"/>
              <a:buChar char="Ø"/>
            </a:pPr>
            <a:r>
              <a:rPr lang="en-US" sz="1500" dirty="0">
                <a:solidFill>
                  <a:schemeClr val="tx1">
                    <a:lumMod val="75000"/>
                    <a:lumOff val="25000"/>
                  </a:schemeClr>
                </a:solidFill>
              </a:rPr>
              <a:t>The CO2 emission due to consumption is significantly increasing over time.</a:t>
            </a:r>
          </a:p>
          <a:p>
            <a:pPr marL="342900" indent="-342900">
              <a:lnSpc>
                <a:spcPct val="150000"/>
              </a:lnSpc>
              <a:spcBef>
                <a:spcPts val="1000"/>
              </a:spcBef>
              <a:buClr>
                <a:schemeClr val="accent1"/>
              </a:buClr>
              <a:buSzPct val="80000"/>
              <a:buFont typeface="Wingdings" panose="05000000000000000000" pitchFamily="2" charset="2"/>
              <a:buChar char="Ø"/>
            </a:pPr>
            <a:r>
              <a:rPr lang="en-US" sz="1500" dirty="0">
                <a:solidFill>
                  <a:schemeClr val="tx1">
                    <a:lumMod val="75000"/>
                    <a:lumOff val="25000"/>
                  </a:schemeClr>
                </a:solidFill>
              </a:rPr>
              <a:t>With time GDP per capita shows a linear trend (approximately), thus, also CO2 emissions caused by consumption of resources.</a:t>
            </a:r>
          </a:p>
          <a:p>
            <a:pPr marL="342900" indent="-342900">
              <a:lnSpc>
                <a:spcPct val="150000"/>
              </a:lnSpc>
              <a:spcBef>
                <a:spcPts val="1000"/>
              </a:spcBef>
              <a:buClr>
                <a:schemeClr val="accent1"/>
              </a:buClr>
              <a:buSzPct val="80000"/>
              <a:buFont typeface="Wingdings" panose="05000000000000000000" pitchFamily="2" charset="2"/>
              <a:buChar char="Ø"/>
            </a:pPr>
            <a:r>
              <a:rPr lang="en-US" sz="1500" dirty="0">
                <a:solidFill>
                  <a:schemeClr val="tx1">
                    <a:lumMod val="75000"/>
                    <a:lumOff val="25000"/>
                  </a:schemeClr>
                </a:solidFill>
              </a:rPr>
              <a:t>Nearly half the CO2 emissions by gas sources is caused by flarings.</a:t>
            </a:r>
            <a:endParaRPr lang="en-IN" sz="1500" dirty="0">
              <a:solidFill>
                <a:schemeClr val="tx1">
                  <a:lumMod val="75000"/>
                  <a:lumOff val="25000"/>
                </a:schemeClr>
              </a:solidFill>
            </a:endParaRPr>
          </a:p>
        </p:txBody>
      </p:sp>
    </p:spTree>
    <p:extLst>
      <p:ext uri="{BB962C8B-B14F-4D97-AF65-F5344CB8AC3E}">
        <p14:creationId xmlns:p14="http://schemas.microsoft.com/office/powerpoint/2010/main" val="1660235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A18A6-8EA4-47A2-ABEA-4120FC30D45E}"/>
              </a:ext>
            </a:extLst>
          </p:cNvPr>
          <p:cNvSpPr>
            <a:spLocks noGrp="1"/>
          </p:cNvSpPr>
          <p:nvPr>
            <p:ph type="title"/>
          </p:nvPr>
        </p:nvSpPr>
        <p:spPr/>
        <p:txBody>
          <a:bodyPr/>
          <a:lstStyle/>
          <a:p>
            <a:r>
              <a:rPr lang="en-US" dirty="0"/>
              <a:t>DATA INSIGHTS</a:t>
            </a:r>
            <a:endParaRPr lang="en-IN" dirty="0"/>
          </a:p>
        </p:txBody>
      </p:sp>
      <p:sp>
        <p:nvSpPr>
          <p:cNvPr id="3" name="Content Placeholder 2">
            <a:extLst>
              <a:ext uri="{FF2B5EF4-FFF2-40B4-BE49-F238E27FC236}">
                <a16:creationId xmlns:a16="http://schemas.microsoft.com/office/drawing/2014/main" id="{E06423BF-C376-48C2-A12B-BCEDC4B7D5AE}"/>
              </a:ext>
            </a:extLst>
          </p:cNvPr>
          <p:cNvSpPr>
            <a:spLocks noGrp="1"/>
          </p:cNvSpPr>
          <p:nvPr>
            <p:ph idx="1"/>
          </p:nvPr>
        </p:nvSpPr>
        <p:spPr/>
        <p:txBody>
          <a:bodyPr/>
          <a:lstStyle/>
          <a:p>
            <a:pPr lvl="0">
              <a:lnSpc>
                <a:spcPct val="107000"/>
              </a:lnSpc>
              <a:buFont typeface="Wingdings" panose="05000000000000000000" pitchFamily="2" charset="2"/>
              <a:buChar char="Ø"/>
            </a:pPr>
            <a:r>
              <a:rPr lang="en-IN" sz="1800" dirty="0">
                <a:effectLst/>
                <a:latin typeface="Calibri" panose="020F0502020204030204" pitchFamily="34" charset="0"/>
                <a:ea typeface="Calibri" panose="020F0502020204030204" pitchFamily="34" charset="0"/>
                <a:cs typeface="Times New Roman" panose="02020603050405020304" pitchFamily="18" charset="0"/>
              </a:rPr>
              <a:t>China, Qatar and Brunei Darussalam have more than 18% of features contributing to more than 90% of data. </a:t>
            </a:r>
          </a:p>
          <a:p>
            <a:pPr lvl="0">
              <a:lnSpc>
                <a:spcPct val="107000"/>
              </a:lnSpc>
              <a:buFont typeface="Wingdings" panose="05000000000000000000" pitchFamily="2" charset="2"/>
              <a:buChar char="Ø"/>
            </a:pPr>
            <a:r>
              <a:rPr lang="en-IN" sz="1800" dirty="0">
                <a:effectLst/>
                <a:latin typeface="Calibri" panose="020F0502020204030204" pitchFamily="34" charset="0"/>
                <a:ea typeface="Calibri" panose="020F0502020204030204" pitchFamily="34" charset="0"/>
                <a:cs typeface="Times New Roman" panose="02020603050405020304" pitchFamily="18" charset="0"/>
              </a:rPr>
              <a:t>Years 2011 to 2016 have more than 40% of features contributing to more than 90% of data. </a:t>
            </a:r>
          </a:p>
          <a:p>
            <a:pPr lvl="0">
              <a:lnSpc>
                <a:spcPct val="107000"/>
              </a:lnSpc>
              <a:spcAft>
                <a:spcPts val="800"/>
              </a:spcAft>
              <a:buFont typeface="Wingdings" panose="05000000000000000000" pitchFamily="2" charset="2"/>
              <a:buChar char="Ø"/>
            </a:pPr>
            <a:r>
              <a:rPr lang="en-IN" sz="1800" dirty="0">
                <a:effectLst/>
                <a:latin typeface="Calibri" panose="020F0502020204030204" pitchFamily="34" charset="0"/>
                <a:ea typeface="Calibri" panose="020F0502020204030204" pitchFamily="34" charset="0"/>
                <a:cs typeface="Times New Roman" panose="02020603050405020304" pitchFamily="18" charset="0"/>
              </a:rPr>
              <a:t>Years 1961 to 1972 have more than 18% of features contributing to less than 10% of data. </a:t>
            </a:r>
          </a:p>
          <a:p>
            <a:endParaRPr lang="en-IN" dirty="0"/>
          </a:p>
        </p:txBody>
      </p:sp>
    </p:spTree>
    <p:extLst>
      <p:ext uri="{BB962C8B-B14F-4D97-AF65-F5344CB8AC3E}">
        <p14:creationId xmlns:p14="http://schemas.microsoft.com/office/powerpoint/2010/main" val="11836386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PRINCIPAL COMPONENT ANALYSIS</a:t>
            </a:r>
            <a:endParaRPr lang="en-IN" dirty="0"/>
          </a:p>
        </p:txBody>
      </p:sp>
      <p:sp>
        <p:nvSpPr>
          <p:cNvPr id="3" name="Content Placeholder 2"/>
          <p:cNvSpPr>
            <a:spLocks noGrp="1"/>
          </p:cNvSpPr>
          <p:nvPr>
            <p:ph idx="1"/>
          </p:nvPr>
        </p:nvSpPr>
        <p:spPr>
          <a:xfrm>
            <a:off x="6639872" y="2641600"/>
            <a:ext cx="5271012" cy="3416300"/>
          </a:xfrm>
        </p:spPr>
        <p:txBody>
          <a:bodyPr/>
          <a:lstStyle/>
          <a:p>
            <a:r>
              <a:rPr lang="en-US" dirty="0"/>
              <a:t>PCA was performed to reduce multicollinearity.</a:t>
            </a:r>
          </a:p>
          <a:p>
            <a:r>
              <a:rPr lang="en-US" dirty="0"/>
              <a:t>The objective was to obtain 95% cumulative explained variance.</a:t>
            </a:r>
          </a:p>
          <a:p>
            <a:r>
              <a:rPr lang="en-US" dirty="0"/>
              <a:t>Hence, 26 features were compressed to 13 PCA components.</a:t>
            </a:r>
          </a:p>
          <a:p>
            <a:r>
              <a:rPr lang="en-US" dirty="0"/>
              <a:t>By performing PCA, model performance improved and overfitting has reduced.</a:t>
            </a:r>
          </a:p>
          <a:p>
            <a:endParaRPr lang="en-IN" dirty="0"/>
          </a:p>
        </p:txBody>
      </p:sp>
      <p:pic>
        <p:nvPicPr>
          <p:cNvPr id="2050" name="Picture 2" descr="C:\Users\10167\Downloads\PCA_optimization (n_components=1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893" y="2641600"/>
            <a:ext cx="5264107" cy="41492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4379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CLUSTERING (K-MEANS)</a:t>
            </a:r>
            <a:endParaRPr lang="en-IN" dirty="0"/>
          </a:p>
        </p:txBody>
      </p:sp>
      <p:sp>
        <p:nvSpPr>
          <p:cNvPr id="3" name="Content Placeholder 2"/>
          <p:cNvSpPr>
            <a:spLocks noGrp="1"/>
          </p:cNvSpPr>
          <p:nvPr>
            <p:ph idx="1"/>
          </p:nvPr>
        </p:nvSpPr>
        <p:spPr>
          <a:xfrm>
            <a:off x="6974730" y="2564343"/>
            <a:ext cx="4598145" cy="3416300"/>
          </a:xfrm>
        </p:spPr>
        <p:txBody>
          <a:bodyPr/>
          <a:lstStyle/>
          <a:p>
            <a:r>
              <a:rPr lang="en-US" dirty="0"/>
              <a:t>Four clusters were observed with  K-means clustering.</a:t>
            </a:r>
          </a:p>
          <a:p>
            <a:r>
              <a:rPr lang="en-US" dirty="0"/>
              <a:t>The Silhouette scores for different clusters justify the above finding.</a:t>
            </a:r>
          </a:p>
          <a:p>
            <a:r>
              <a:rPr lang="en-US" dirty="0"/>
              <a:t>With the cluster labels, as we witness, there is no significant imbalance.</a:t>
            </a:r>
          </a:p>
          <a:p>
            <a:pPr marL="0" indent="0">
              <a:buNone/>
            </a:pPr>
            <a:endParaRPr lang="en-IN" dirty="0"/>
          </a:p>
        </p:txBody>
      </p:sp>
      <p:pic>
        <p:nvPicPr>
          <p:cNvPr id="4" name="Content Placeholder 3">
            <a:extLst>
              <a:ext uri="{FF2B5EF4-FFF2-40B4-BE49-F238E27FC236}">
                <a16:creationId xmlns:a16="http://schemas.microsoft.com/office/drawing/2014/main" id="{631568D6-2FA5-4E9A-9682-B48D9E0FCC0F}"/>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146982" y="2324886"/>
            <a:ext cx="3669621" cy="2499921"/>
          </a:xfrm>
          <a:prstGeom prst="rect">
            <a:avLst/>
          </a:prstGeom>
          <a:noFill/>
          <a:ln>
            <a:noFill/>
          </a:ln>
        </p:spPr>
      </p:pic>
      <p:pic>
        <p:nvPicPr>
          <p:cNvPr id="8" name="Picture 7">
            <a:extLst>
              <a:ext uri="{FF2B5EF4-FFF2-40B4-BE49-F238E27FC236}">
                <a16:creationId xmlns:a16="http://schemas.microsoft.com/office/drawing/2014/main" id="{6D6402BD-C89D-4770-B437-EA6F6F328D0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18114" y="4824807"/>
            <a:ext cx="3772861" cy="1848665"/>
          </a:xfrm>
          <a:prstGeom prst="rect">
            <a:avLst/>
          </a:prstGeom>
          <a:noFill/>
          <a:ln>
            <a:noFill/>
          </a:ln>
        </p:spPr>
      </p:pic>
      <p:pic>
        <p:nvPicPr>
          <p:cNvPr id="6" name="Picture 5">
            <a:extLst>
              <a:ext uri="{FF2B5EF4-FFF2-40B4-BE49-F238E27FC236}">
                <a16:creationId xmlns:a16="http://schemas.microsoft.com/office/drawing/2014/main" id="{D11E9BFF-8B52-4139-8BD6-642B336F3E62}"/>
              </a:ext>
            </a:extLst>
          </p:cNvPr>
          <p:cNvPicPr>
            <a:picLocks noChangeAspect="1"/>
          </p:cNvPicPr>
          <p:nvPr/>
        </p:nvPicPr>
        <p:blipFill rotWithShape="1">
          <a:blip r:embed="rId4">
            <a:extLst>
              <a:ext uri="{28A0092B-C50C-407E-A947-70E740481C1C}">
                <a14:useLocalDpi xmlns:a14="http://schemas.microsoft.com/office/drawing/2010/main" val="0"/>
              </a:ext>
            </a:extLst>
          </a:blip>
          <a:srcRect l="52206"/>
          <a:stretch/>
        </p:blipFill>
        <p:spPr>
          <a:xfrm>
            <a:off x="3990974" y="2324886"/>
            <a:ext cx="2983756" cy="4348585"/>
          </a:xfrm>
          <a:prstGeom prst="rect">
            <a:avLst/>
          </a:prstGeom>
        </p:spPr>
      </p:pic>
    </p:spTree>
    <p:extLst>
      <p:ext uri="{BB962C8B-B14F-4D97-AF65-F5344CB8AC3E}">
        <p14:creationId xmlns:p14="http://schemas.microsoft.com/office/powerpoint/2010/main" val="2836101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409DF-A9DA-4013-BF3E-53AF9A23F5D3}"/>
              </a:ext>
            </a:extLst>
          </p:cNvPr>
          <p:cNvSpPr>
            <a:spLocks noGrp="1"/>
          </p:cNvSpPr>
          <p:nvPr>
            <p:ph type="title"/>
          </p:nvPr>
        </p:nvSpPr>
        <p:spPr/>
        <p:txBody>
          <a:bodyPr/>
          <a:lstStyle/>
          <a:p>
            <a:r>
              <a:rPr lang="en-US" dirty="0"/>
              <a:t>CLUSTER VALIDATION</a:t>
            </a:r>
          </a:p>
        </p:txBody>
      </p:sp>
      <p:pic>
        <p:nvPicPr>
          <p:cNvPr id="4" name="Content Placeholder 3">
            <a:extLst>
              <a:ext uri="{FF2B5EF4-FFF2-40B4-BE49-F238E27FC236}">
                <a16:creationId xmlns:a16="http://schemas.microsoft.com/office/drawing/2014/main" id="{77B24662-E2F8-4B4C-8165-BDCA0B10A432}"/>
              </a:ext>
            </a:extLst>
          </p:cNvPr>
          <p:cNvPicPr>
            <a:picLocks noGrp="1"/>
          </p:cNvPicPr>
          <p:nvPr>
            <p:ph idx="1"/>
          </p:nvPr>
        </p:nvPicPr>
        <p:blipFill rotWithShape="1">
          <a:blip r:embed="rId2">
            <a:extLst>
              <a:ext uri="{28A0092B-C50C-407E-A947-70E740481C1C}">
                <a14:useLocalDpi xmlns:a14="http://schemas.microsoft.com/office/drawing/2010/main" val="0"/>
              </a:ext>
            </a:extLst>
          </a:blip>
          <a:srcRect t="41787"/>
          <a:stretch/>
        </p:blipFill>
        <p:spPr bwMode="auto">
          <a:xfrm>
            <a:off x="885828" y="2647949"/>
            <a:ext cx="6877048" cy="4010026"/>
          </a:xfrm>
          <a:prstGeom prst="rect">
            <a:avLst/>
          </a:prstGeom>
          <a:noFill/>
          <a:ln>
            <a:solidFill>
              <a:schemeClr val="accent3">
                <a:lumMod val="40000"/>
                <a:lumOff val="60000"/>
              </a:schemeClr>
            </a:solidFill>
          </a:ln>
          <a:extLst>
            <a:ext uri="{53640926-AAD7-44D8-BBD7-CCE9431645EC}">
              <a14:shadowObscured xmlns:a14="http://schemas.microsoft.com/office/drawing/2010/main"/>
            </a:ext>
          </a:extLst>
        </p:spPr>
      </p:pic>
      <p:pic>
        <p:nvPicPr>
          <p:cNvPr id="5" name="image3.png">
            <a:extLst>
              <a:ext uri="{FF2B5EF4-FFF2-40B4-BE49-F238E27FC236}">
                <a16:creationId xmlns:a16="http://schemas.microsoft.com/office/drawing/2014/main" id="{9ABD6C6F-091C-4466-B757-8615A6620655}"/>
              </a:ext>
            </a:extLst>
          </p:cNvPr>
          <p:cNvPicPr/>
          <p:nvPr/>
        </p:nvPicPr>
        <p:blipFill>
          <a:blip r:embed="rId3"/>
          <a:srcRect/>
          <a:stretch>
            <a:fillRect/>
          </a:stretch>
        </p:blipFill>
        <p:spPr>
          <a:xfrm>
            <a:off x="7620841" y="931336"/>
            <a:ext cx="2295525" cy="706964"/>
          </a:xfrm>
          <a:prstGeom prst="rect">
            <a:avLst/>
          </a:prstGeom>
          <a:ln>
            <a:solidFill>
              <a:schemeClr val="accent3"/>
            </a:solidFill>
          </a:ln>
        </p:spPr>
      </p:pic>
      <p:sp>
        <p:nvSpPr>
          <p:cNvPr id="3" name="TextBox 2">
            <a:extLst>
              <a:ext uri="{FF2B5EF4-FFF2-40B4-BE49-F238E27FC236}">
                <a16:creationId xmlns:a16="http://schemas.microsoft.com/office/drawing/2014/main" id="{DFCC43E2-4D61-4F48-8E35-E723F8E5D712}"/>
              </a:ext>
            </a:extLst>
          </p:cNvPr>
          <p:cNvSpPr txBox="1"/>
          <p:nvPr/>
        </p:nvSpPr>
        <p:spPr>
          <a:xfrm>
            <a:off x="7934325" y="2800350"/>
            <a:ext cx="4000501" cy="923330"/>
          </a:xfrm>
          <a:prstGeom prst="rect">
            <a:avLst/>
          </a:prstGeom>
          <a:noFill/>
        </p:spPr>
        <p:txBody>
          <a:bodyPr wrap="square" rtlCol="0">
            <a:spAutoFit/>
          </a:bodyPr>
          <a:lstStyle/>
          <a:p>
            <a:r>
              <a:rPr lang="en-IN" dirty="0"/>
              <a:t>With Grid Search cross validation, the cluster split  above is, thus, justified.</a:t>
            </a:r>
          </a:p>
        </p:txBody>
      </p:sp>
    </p:spTree>
    <p:extLst>
      <p:ext uri="{BB962C8B-B14F-4D97-AF65-F5344CB8AC3E}">
        <p14:creationId xmlns:p14="http://schemas.microsoft.com/office/powerpoint/2010/main" val="3478869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STATISTICAL ANALYSIS</a:t>
            </a:r>
            <a:endParaRPr lang="en-IN" dirty="0"/>
          </a:p>
        </p:txBody>
      </p:sp>
      <p:sp>
        <p:nvSpPr>
          <p:cNvPr id="3" name="Content Placeholder 2"/>
          <p:cNvSpPr>
            <a:spLocks noGrp="1"/>
          </p:cNvSpPr>
          <p:nvPr>
            <p:ph idx="1"/>
          </p:nvPr>
        </p:nvSpPr>
        <p:spPr>
          <a:xfrm>
            <a:off x="7572374" y="2591857"/>
            <a:ext cx="4258517" cy="3416300"/>
          </a:xfrm>
        </p:spPr>
        <p:txBody>
          <a:bodyPr>
            <a:normAutofit fontScale="92500" lnSpcReduction="20000"/>
          </a:bodyPr>
          <a:lstStyle/>
          <a:p>
            <a:r>
              <a:rPr lang="en-US" dirty="0"/>
              <a:t>Checking for  skewness, it was seen that most of the features among the principal components have Gaussian Distribution.</a:t>
            </a:r>
          </a:p>
          <a:p>
            <a:r>
              <a:rPr lang="en-US" dirty="0"/>
              <a:t>The T-Tests performed on train and test samples conclude that they are strongly associated with the whole principal component data. </a:t>
            </a:r>
          </a:p>
          <a:p>
            <a:r>
              <a:rPr lang="en-IN" dirty="0"/>
              <a:t>The 7th, 9th and 11th principal components fail to reject null hypothesis, thus, inferring them to be statistically insignificant features to determine variance in the target.</a:t>
            </a:r>
            <a:endParaRPr lang="en-US" dirty="0"/>
          </a:p>
        </p:txBody>
      </p:sp>
      <p:pic>
        <p:nvPicPr>
          <p:cNvPr id="4" name="Picture 3" descr="A picture containing chart&#10;&#10;Description automatically generated">
            <a:extLst>
              <a:ext uri="{FF2B5EF4-FFF2-40B4-BE49-F238E27FC236}">
                <a16:creationId xmlns:a16="http://schemas.microsoft.com/office/drawing/2014/main" id="{CDD1C65F-CA45-40C3-93B2-1532E553319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0" y="2457449"/>
            <a:ext cx="7191375" cy="4264821"/>
          </a:xfrm>
          <a:prstGeom prst="rect">
            <a:avLst/>
          </a:prstGeom>
          <a:noFill/>
          <a:ln>
            <a:noFill/>
          </a:ln>
        </p:spPr>
      </p:pic>
    </p:spTree>
    <p:extLst>
      <p:ext uri="{BB962C8B-B14F-4D97-AF65-F5344CB8AC3E}">
        <p14:creationId xmlns:p14="http://schemas.microsoft.com/office/powerpoint/2010/main" val="1339230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3FB57-8E82-4B2B-BE75-1D59EFE40CE0}"/>
              </a:ext>
            </a:extLst>
          </p:cNvPr>
          <p:cNvSpPr>
            <a:spLocks noGrp="1"/>
          </p:cNvSpPr>
          <p:nvPr>
            <p:ph type="title"/>
          </p:nvPr>
        </p:nvSpPr>
        <p:spPr/>
        <p:txBody>
          <a:bodyPr/>
          <a:lstStyle/>
          <a:p>
            <a:r>
              <a:rPr lang="en-US" dirty="0"/>
              <a:t>MODEL VALIDATION:</a:t>
            </a:r>
          </a:p>
        </p:txBody>
      </p:sp>
      <p:pic>
        <p:nvPicPr>
          <p:cNvPr id="4" name="image3.png">
            <a:extLst>
              <a:ext uri="{FF2B5EF4-FFF2-40B4-BE49-F238E27FC236}">
                <a16:creationId xmlns:a16="http://schemas.microsoft.com/office/drawing/2014/main" id="{DDA61B67-F76D-416D-BF1A-556751E67D15}"/>
              </a:ext>
            </a:extLst>
          </p:cNvPr>
          <p:cNvPicPr/>
          <p:nvPr/>
        </p:nvPicPr>
        <p:blipFill>
          <a:blip r:embed="rId2"/>
          <a:srcRect/>
          <a:stretch>
            <a:fillRect/>
          </a:stretch>
        </p:blipFill>
        <p:spPr>
          <a:xfrm>
            <a:off x="7620841" y="971550"/>
            <a:ext cx="2295525" cy="666750"/>
          </a:xfrm>
          <a:prstGeom prst="rect">
            <a:avLst/>
          </a:prstGeom>
          <a:ln>
            <a:solidFill>
              <a:schemeClr val="accent3"/>
            </a:solidFill>
          </a:ln>
        </p:spPr>
      </p:pic>
      <p:pic>
        <p:nvPicPr>
          <p:cNvPr id="5" name="Content Placeholder 4">
            <a:extLst>
              <a:ext uri="{FF2B5EF4-FFF2-40B4-BE49-F238E27FC236}">
                <a16:creationId xmlns:a16="http://schemas.microsoft.com/office/drawing/2014/main" id="{A9C1093A-D725-4FDF-8D6E-FFD442ACE6C9}"/>
              </a:ext>
            </a:extLst>
          </p:cNvPr>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71501" y="2476986"/>
            <a:ext cx="5676900" cy="3411580"/>
          </a:xfrm>
          <a:prstGeom prst="rect">
            <a:avLst/>
          </a:prstGeom>
          <a:noFill/>
          <a:ln>
            <a:solidFill>
              <a:srgbClr val="FFC000"/>
            </a:solidFill>
          </a:ln>
        </p:spPr>
      </p:pic>
      <p:sp>
        <p:nvSpPr>
          <p:cNvPr id="7" name="TextBox 6">
            <a:extLst>
              <a:ext uri="{FF2B5EF4-FFF2-40B4-BE49-F238E27FC236}">
                <a16:creationId xmlns:a16="http://schemas.microsoft.com/office/drawing/2014/main" id="{5BD5014F-1BD8-48AC-AAC4-DB27B9C29C85}"/>
              </a:ext>
            </a:extLst>
          </p:cNvPr>
          <p:cNvSpPr txBox="1"/>
          <p:nvPr/>
        </p:nvSpPr>
        <p:spPr>
          <a:xfrm>
            <a:off x="6619875" y="4365059"/>
            <a:ext cx="4876799" cy="1519273"/>
          </a:xfrm>
          <a:prstGeom prst="rect">
            <a:avLst/>
          </a:prstGeom>
          <a:noFill/>
          <a:ln>
            <a:solidFill>
              <a:schemeClr val="accent3"/>
            </a:solidFill>
          </a:ln>
        </p:spPr>
        <p:txBody>
          <a:bodyPr wrap="square">
            <a:spAutoFit/>
          </a:bodyPr>
          <a:lstStyle/>
          <a:p>
            <a:pPr marL="342900" marR="0" lvl="0" indent="-342900">
              <a:lnSpc>
                <a:spcPct val="115000"/>
              </a:lnSpc>
              <a:spcBef>
                <a:spcPts val="0"/>
              </a:spcBef>
              <a:spcAft>
                <a:spcPts val="1000"/>
              </a:spcAft>
              <a:buFont typeface="Symbol" panose="05050102010706020507" pitchFamily="18" charset="2"/>
              <a:buChar char=""/>
            </a:pPr>
            <a:r>
              <a:rPr lang="en-US" sz="1800" dirty="0">
                <a:solidFill>
                  <a:srgbClr val="353744"/>
                </a:solidFill>
                <a:effectLst/>
                <a:latin typeface="Calibri" panose="020F0502020204030204" pitchFamily="34" charset="0"/>
                <a:ea typeface="Proxima Nova"/>
                <a:cs typeface="Times New Roman" panose="02020603050405020304" pitchFamily="18" charset="0"/>
              </a:rPr>
              <a:t>Decision Tree Classifier is implemented in order to validate the Clustering.</a:t>
            </a:r>
            <a:endParaRPr lang="en-US" sz="1800" dirty="0">
              <a:solidFill>
                <a:srgbClr val="353744"/>
              </a:solidFill>
              <a:effectLst/>
              <a:latin typeface="Proxima Nova"/>
              <a:ea typeface="Proxima Nova"/>
              <a:cs typeface="Proxima Nova"/>
            </a:endParaRPr>
          </a:p>
          <a:p>
            <a:pPr marL="342900" marR="0" lvl="0" indent="-342900">
              <a:lnSpc>
                <a:spcPct val="115000"/>
              </a:lnSpc>
              <a:spcBef>
                <a:spcPts val="0"/>
              </a:spcBef>
              <a:spcAft>
                <a:spcPts val="1000"/>
              </a:spcAft>
              <a:buFont typeface="Symbol" panose="05050102010706020507" pitchFamily="18" charset="2"/>
              <a:buChar char=""/>
            </a:pPr>
            <a:r>
              <a:rPr lang="en-US" sz="1800" dirty="0">
                <a:solidFill>
                  <a:srgbClr val="353744"/>
                </a:solidFill>
                <a:effectLst/>
                <a:latin typeface="Calibri" panose="020F0502020204030204" pitchFamily="34" charset="0"/>
                <a:ea typeface="Proxima Nova"/>
                <a:cs typeface="Times New Roman" panose="02020603050405020304" pitchFamily="18" charset="0"/>
              </a:rPr>
              <a:t>The table shown here is the  Classification report of the base model.</a:t>
            </a:r>
            <a:endParaRPr lang="en-US" sz="1800" dirty="0">
              <a:solidFill>
                <a:srgbClr val="353744"/>
              </a:solidFill>
              <a:effectLst/>
              <a:latin typeface="Proxima Nova"/>
              <a:ea typeface="Proxima Nova"/>
              <a:cs typeface="Proxima Nova"/>
            </a:endParaRPr>
          </a:p>
        </p:txBody>
      </p:sp>
      <p:sp>
        <p:nvSpPr>
          <p:cNvPr id="3" name="TextBox 2">
            <a:extLst>
              <a:ext uri="{FF2B5EF4-FFF2-40B4-BE49-F238E27FC236}">
                <a16:creationId xmlns:a16="http://schemas.microsoft.com/office/drawing/2014/main" id="{CD3289C7-0AFA-4C59-8A3D-A7AA2007BCF1}"/>
              </a:ext>
            </a:extLst>
          </p:cNvPr>
          <p:cNvSpPr txBox="1"/>
          <p:nvPr/>
        </p:nvSpPr>
        <p:spPr>
          <a:xfrm>
            <a:off x="6619875" y="2476986"/>
            <a:ext cx="4876800" cy="1592808"/>
          </a:xfrm>
          <a:prstGeom prst="rect">
            <a:avLst/>
          </a:prstGeom>
          <a:noFill/>
          <a:ln>
            <a:solidFill>
              <a:srgbClr val="FFC000"/>
            </a:solidFill>
          </a:ln>
        </p:spPr>
        <p:txBody>
          <a:bodyPr wrap="square" rtlCol="0">
            <a:spAutoFit/>
          </a:bodyPr>
          <a:lstStyle/>
          <a:p>
            <a:pPr>
              <a:lnSpc>
                <a:spcPct val="115000"/>
              </a:lnSpc>
              <a:spcAft>
                <a:spcPts val="1000"/>
              </a:spcAft>
            </a:pPr>
            <a:r>
              <a:rPr lang="en-US" sz="1800" dirty="0">
                <a:effectLst/>
                <a:latin typeface="Proxima Nova"/>
                <a:ea typeface="Proxima Nova"/>
                <a:cs typeface="Proxima Nova"/>
              </a:rPr>
              <a:t>Base Model Inference:-</a:t>
            </a:r>
            <a:endParaRPr lang="en-US" dirty="0"/>
          </a:p>
          <a:p>
            <a:pPr marL="285750" marR="0" lvl="0" indent="-285750">
              <a:lnSpc>
                <a:spcPct val="115000"/>
              </a:lnSpc>
              <a:spcBef>
                <a:spcPts val="0"/>
              </a:spcBef>
              <a:spcAft>
                <a:spcPts val="1000"/>
              </a:spcAft>
              <a:buFont typeface="Arial" panose="020B0604020202020204" pitchFamily="34" charset="0"/>
              <a:buChar char="•"/>
            </a:pPr>
            <a:r>
              <a:rPr lang="en-US" sz="1800" dirty="0">
                <a:solidFill>
                  <a:srgbClr val="353744"/>
                </a:solidFill>
                <a:effectLst/>
                <a:latin typeface="Agency FB" panose="020B0503020202020204" pitchFamily="34" charset="0"/>
                <a:ea typeface="Proxima Nova"/>
                <a:cs typeface="Times New Roman" panose="02020603050405020304" pitchFamily="18" charset="0"/>
              </a:rPr>
              <a:t>The accuracy of the model is 94%. </a:t>
            </a:r>
          </a:p>
          <a:p>
            <a:pPr marL="285750" marR="0" lvl="0" indent="-285750">
              <a:lnSpc>
                <a:spcPct val="115000"/>
              </a:lnSpc>
              <a:spcBef>
                <a:spcPts val="0"/>
              </a:spcBef>
              <a:spcAft>
                <a:spcPts val="1000"/>
              </a:spcAft>
              <a:buFont typeface="Arial" panose="020B0604020202020204" pitchFamily="34" charset="0"/>
              <a:buChar char="•"/>
            </a:pPr>
            <a:r>
              <a:rPr lang="en-US" sz="1800" dirty="0">
                <a:solidFill>
                  <a:srgbClr val="353744"/>
                </a:solidFill>
                <a:effectLst/>
                <a:latin typeface="Agency FB" panose="020B0503020202020204" pitchFamily="34" charset="0"/>
                <a:ea typeface="Proxima Nova"/>
                <a:cs typeface="Times New Roman" panose="02020603050405020304" pitchFamily="18" charset="0"/>
              </a:rPr>
              <a:t>Lookin</a:t>
            </a:r>
            <a:r>
              <a:rPr lang="en-US" dirty="0">
                <a:solidFill>
                  <a:srgbClr val="353744"/>
                </a:solidFill>
                <a:latin typeface="Agency FB" panose="020B0503020202020204" pitchFamily="34" charset="0"/>
                <a:ea typeface="Proxima Nova"/>
                <a:cs typeface="Times New Roman" panose="02020603050405020304" pitchFamily="18" charset="0"/>
              </a:rPr>
              <a:t>g at the F1-scores of  each cluster label, we infer the distinction of clusters is  high. </a:t>
            </a:r>
          </a:p>
        </p:txBody>
      </p:sp>
    </p:spTree>
    <p:extLst>
      <p:ext uri="{BB962C8B-B14F-4D97-AF65-F5344CB8AC3E}">
        <p14:creationId xmlns:p14="http://schemas.microsoft.com/office/powerpoint/2010/main" val="9713548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D5E2556-4D6B-46B9-9C33-5F344B04E5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776" y="2447924"/>
            <a:ext cx="5876924" cy="4305301"/>
          </a:xfrm>
          <a:ln>
            <a:solidFill>
              <a:srgbClr val="FFC000"/>
            </a:solidFill>
          </a:ln>
        </p:spPr>
      </p:pic>
      <p:sp>
        <p:nvSpPr>
          <p:cNvPr id="7" name="Title 6">
            <a:extLst>
              <a:ext uri="{FF2B5EF4-FFF2-40B4-BE49-F238E27FC236}">
                <a16:creationId xmlns:a16="http://schemas.microsoft.com/office/drawing/2014/main" id="{5C1BB2FF-A46C-4590-A6C2-DBD32F44FCFC}"/>
              </a:ext>
            </a:extLst>
          </p:cNvPr>
          <p:cNvSpPr>
            <a:spLocks noGrp="1"/>
          </p:cNvSpPr>
          <p:nvPr>
            <p:ph type="title"/>
          </p:nvPr>
        </p:nvSpPr>
        <p:spPr/>
        <p:txBody>
          <a:bodyPr/>
          <a:lstStyle/>
          <a:p>
            <a:r>
              <a:rPr lang="en-IN" dirty="0"/>
              <a:t>SAMPLING EFFECTS ON BASE MODEL</a:t>
            </a:r>
          </a:p>
        </p:txBody>
      </p:sp>
      <p:pic>
        <p:nvPicPr>
          <p:cNvPr id="9" name="Picture 8">
            <a:extLst>
              <a:ext uri="{FF2B5EF4-FFF2-40B4-BE49-F238E27FC236}">
                <a16:creationId xmlns:a16="http://schemas.microsoft.com/office/drawing/2014/main" id="{990EB2C0-8BD1-44C7-B21D-5264520BCF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998" y="2447924"/>
            <a:ext cx="5610225" cy="2105026"/>
          </a:xfrm>
          <a:prstGeom prst="rect">
            <a:avLst/>
          </a:prstGeom>
          <a:ln>
            <a:solidFill>
              <a:srgbClr val="FFC000"/>
            </a:solidFill>
          </a:ln>
        </p:spPr>
      </p:pic>
      <p:sp>
        <p:nvSpPr>
          <p:cNvPr id="10" name="TextBox 9">
            <a:extLst>
              <a:ext uri="{FF2B5EF4-FFF2-40B4-BE49-F238E27FC236}">
                <a16:creationId xmlns:a16="http://schemas.microsoft.com/office/drawing/2014/main" id="{DF9FC47B-E916-40AB-926B-D721DF8F000B}"/>
              </a:ext>
            </a:extLst>
          </p:cNvPr>
          <p:cNvSpPr txBox="1"/>
          <p:nvPr/>
        </p:nvSpPr>
        <p:spPr>
          <a:xfrm>
            <a:off x="6095999" y="4721901"/>
            <a:ext cx="5610225" cy="2031325"/>
          </a:xfrm>
          <a:prstGeom prst="rect">
            <a:avLst/>
          </a:prstGeom>
          <a:noFill/>
          <a:ln>
            <a:solidFill>
              <a:srgbClr val="FFC000"/>
            </a:solidFill>
          </a:ln>
        </p:spPr>
        <p:txBody>
          <a:bodyPr wrap="square" rtlCol="0">
            <a:spAutoFit/>
          </a:bodyPr>
          <a:lstStyle/>
          <a:p>
            <a:pPr marL="285750" indent="-285750">
              <a:buFont typeface="Arial" panose="020B0604020202020204" pitchFamily="34" charset="0"/>
              <a:buChar char="•"/>
            </a:pPr>
            <a:r>
              <a:rPr lang="en-IN" dirty="0"/>
              <a:t>The base model built with decision tree classifier, as we see- the RMSE of test sample is remarkable higher than train sample’s, is thus underfitting.</a:t>
            </a:r>
          </a:p>
          <a:p>
            <a:pPr marL="285750" indent="-285750">
              <a:buFont typeface="Arial" panose="020B0604020202020204" pitchFamily="34" charset="0"/>
              <a:buChar char="•"/>
            </a:pPr>
            <a:r>
              <a:rPr lang="en-IN" dirty="0"/>
              <a:t>This can also be justified with above observed coefficient of variance which portend a higher bias error. </a:t>
            </a:r>
          </a:p>
        </p:txBody>
      </p:sp>
    </p:spTree>
    <p:extLst>
      <p:ext uri="{BB962C8B-B14F-4D97-AF65-F5344CB8AC3E}">
        <p14:creationId xmlns:p14="http://schemas.microsoft.com/office/powerpoint/2010/main" val="12585491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9FEB8-BA03-44A8-A4CE-26B1C8C646B9}"/>
              </a:ext>
            </a:extLst>
          </p:cNvPr>
          <p:cNvSpPr>
            <a:spLocks noGrp="1"/>
          </p:cNvSpPr>
          <p:nvPr>
            <p:ph type="title"/>
          </p:nvPr>
        </p:nvSpPr>
        <p:spPr/>
        <p:txBody>
          <a:bodyPr/>
          <a:lstStyle/>
          <a:p>
            <a:r>
              <a:rPr lang="en-IN" dirty="0"/>
              <a:t>BASE MODEL TREE </a:t>
            </a:r>
          </a:p>
        </p:txBody>
      </p:sp>
      <p:pic>
        <p:nvPicPr>
          <p:cNvPr id="5" name="Content Placeholder 4">
            <a:extLst>
              <a:ext uri="{FF2B5EF4-FFF2-40B4-BE49-F238E27FC236}">
                <a16:creationId xmlns:a16="http://schemas.microsoft.com/office/drawing/2014/main" id="{F6574128-FEAA-4455-8922-4DF68816993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4375" y="2266951"/>
            <a:ext cx="10687050" cy="4410074"/>
          </a:xfrm>
        </p:spPr>
      </p:pic>
    </p:spTree>
    <p:extLst>
      <p:ext uri="{BB962C8B-B14F-4D97-AF65-F5344CB8AC3E}">
        <p14:creationId xmlns:p14="http://schemas.microsoft.com/office/powerpoint/2010/main" val="14735982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15006-BC50-4E1B-9F01-B8C514CAEA97}"/>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3D48AC48-3BCF-4319-8DE7-2A2D510BCF6E}"/>
              </a:ext>
            </a:extLst>
          </p:cNvPr>
          <p:cNvSpPr>
            <a:spLocks noGrp="1"/>
          </p:cNvSpPr>
          <p:nvPr>
            <p:ph idx="1"/>
          </p:nvPr>
        </p:nvSpPr>
        <p:spPr/>
        <p:txBody>
          <a:bodyPr/>
          <a:lstStyle/>
          <a:p>
            <a:r>
              <a:rPr lang="en-IN" dirty="0"/>
              <a:t>1. Bergmann, P. G. (1993). Relativity. In The new encyclopaedia Britannica (Vol. 26, pp. 501-508). Chicago, IL: Encyclopaedia Britannica. </a:t>
            </a:r>
          </a:p>
          <a:p>
            <a:r>
              <a:rPr lang="en-IN" dirty="0"/>
              <a:t>2. Arno, S. F., &amp; Allison-Bunnell, S. (2002). Flames in our forest: Disaster or renewal? Retrieved from</a:t>
            </a:r>
          </a:p>
        </p:txBody>
      </p:sp>
    </p:spTree>
    <p:extLst>
      <p:ext uri="{BB962C8B-B14F-4D97-AF65-F5344CB8AC3E}">
        <p14:creationId xmlns:p14="http://schemas.microsoft.com/office/powerpoint/2010/main" val="12884343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C201857-4D5D-4315-BEE3-10E0BA5EEB18}"/>
              </a:ext>
            </a:extLst>
          </p:cNvPr>
          <p:cNvPicPr>
            <a:picLocks noGrp="1" noChangeAspect="1"/>
          </p:cNvPicPr>
          <p:nvPr>
            <p:ph idx="1"/>
          </p:nvPr>
        </p:nvPicPr>
        <p:blipFill>
          <a:blip r:embed="rId2"/>
          <a:stretch>
            <a:fillRect/>
          </a:stretch>
        </p:blipFill>
        <p:spPr>
          <a:xfrm>
            <a:off x="0" y="1"/>
            <a:ext cx="12191999" cy="6858000"/>
          </a:xfrm>
          <a:prstGeom prst="rect">
            <a:avLst/>
          </a:prstGeom>
        </p:spPr>
      </p:pic>
    </p:spTree>
    <p:extLst>
      <p:ext uri="{BB962C8B-B14F-4D97-AF65-F5344CB8AC3E}">
        <p14:creationId xmlns:p14="http://schemas.microsoft.com/office/powerpoint/2010/main" val="28996670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docProps/app.xml><?xml version="1.0" encoding="utf-8"?>
<Properties xmlns="http://schemas.openxmlformats.org/officeDocument/2006/extended-properties" xmlns:vt="http://schemas.openxmlformats.org/officeDocument/2006/docPropsVTypes">
  <Template>Ion Boardroom</Template>
  <TotalTime>4576</TotalTime>
  <Words>1262</Words>
  <Application>Microsoft Office PowerPoint</Application>
  <PresentationFormat>Widescreen</PresentationFormat>
  <Paragraphs>134</Paragraphs>
  <Slides>19</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19</vt:i4>
      </vt:variant>
    </vt:vector>
  </HeadingPairs>
  <TitlesOfParts>
    <vt:vector size="33" baseType="lpstr">
      <vt:lpstr>Agency FB</vt:lpstr>
      <vt:lpstr>Arial</vt:lpstr>
      <vt:lpstr>Berlin Sans FB Demi</vt:lpstr>
      <vt:lpstr>Calibri</vt:lpstr>
      <vt:lpstr>Century Gothic</vt:lpstr>
      <vt:lpstr>CIDFont+F2</vt:lpstr>
      <vt:lpstr>Colonna MT</vt:lpstr>
      <vt:lpstr>Curlz MT</vt:lpstr>
      <vt:lpstr>Proxima Nova</vt:lpstr>
      <vt:lpstr>Symbol</vt:lpstr>
      <vt:lpstr>Times New Roman</vt:lpstr>
      <vt:lpstr>Wingdings</vt:lpstr>
      <vt:lpstr>Wingdings 3</vt:lpstr>
      <vt:lpstr>Ion Boardroom</vt:lpstr>
      <vt:lpstr>                             CLIMATE CHANGE                   IN        ASIAN COUNTRIES                              &amp;                    GLOBAL WARMING </vt:lpstr>
      <vt:lpstr>CONTENT: </vt:lpstr>
      <vt:lpstr>INTRODUCTION:- CLIMATE CHANGE </vt:lpstr>
      <vt:lpstr>OBJECTIVE OF STUDY:-</vt:lpstr>
      <vt:lpstr>LITERATURE SURVEY</vt:lpstr>
      <vt:lpstr>MODELLING APPROACH</vt:lpstr>
      <vt:lpstr>MODELLING APPROACH</vt:lpstr>
      <vt:lpstr>DATA INSIGHTS</vt:lpstr>
      <vt:lpstr>DATA INSIGHTS</vt:lpstr>
      <vt:lpstr>DATA INSIGHTS</vt:lpstr>
      <vt:lpstr>PRINCIPAL COMPONENT ANALYSIS</vt:lpstr>
      <vt:lpstr>CLUSTERING (K-MEANS)</vt:lpstr>
      <vt:lpstr>CLUSTER VALIDATION</vt:lpstr>
      <vt:lpstr>STATISTICAL ANALYSIS</vt:lpstr>
      <vt:lpstr>MODEL VALIDATION:</vt:lpstr>
      <vt:lpstr>SAMPLING EFFECTS ON BASE MODEL</vt:lpstr>
      <vt:lpstr>BASE MODEL TREE </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CLIMATE CHANGE:- ASIAN COUNTRIES &amp; GLOBAL WARMING</dc:title>
  <dc:creator>Kartick Jena</dc:creator>
  <cp:lastModifiedBy>Baladev Debasis Jena</cp:lastModifiedBy>
  <cp:revision>149</cp:revision>
  <dcterms:created xsi:type="dcterms:W3CDTF">2021-03-07T17:21:43Z</dcterms:created>
  <dcterms:modified xsi:type="dcterms:W3CDTF">2021-03-13T02:31:31Z</dcterms:modified>
</cp:coreProperties>
</file>